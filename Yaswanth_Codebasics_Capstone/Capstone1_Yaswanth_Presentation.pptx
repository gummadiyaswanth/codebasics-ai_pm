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line on the slide. Everything that follows is evidence for it: AtliQ's leads are fine; what fails is remembering what was said, asked and promised.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four numbers come from cross-referencing every email and note against the CRM. 18 of the 33 had waited two weeks or more. The CRM's next-follow-up column is empty on every single row.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Pick one of these to tell as a story. FinEdge is the most powerful: largest deal, compliance done, client explicitly said don't lose momentum, and three weeks of silence.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Persona: Karandeep, CEO and founder-seller. The second quote became the North Star. The right column is why a pure email integration would miss half the problem.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at row 4: the team has twice agreed to update the CRM same-day, and it failed both times. A discipline fix has been tried. The fix has to be a system that remembers for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root-cause problem statement from the user research worksheet. Pause here; this is the slide to agree on before talking solutions.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Miro board has the full grid: human actions, tools, pain points with dot votes, and the AI card per step. Steps 3 and 4 collected the most votes, and they are the two the solution targets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Impact means effect on client wait time and revenue from known pipeline. Feasibility weighs data, tech maturity and risk. Win-probability prediction scored 3: 40 records with no outcome history would just be noise.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'never' list is what makes this safe for a founder-led brand. The founders keep the voice and the record; Recall keeps the memory.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Recall sits between the channels and Kaizen. It doesn't replace the CRM; it feeds it. The next three slides are the working prototype.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demo: filter to Bhavin, then open the FinEdge draft. Show that the draft leaves the time slots as a bracket because Recall can't know his calendar.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WhatsApp and FaceTime calls can't be recorded, so we don't try. A 30-second voice memo after the call is the capture path, and it costs nothing.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Kaveri is the example to show: the CRM says Lost, but the client wrote back after the cheaper vendor failed. Recall proposes reopening it, quoting his email. Export produces the updated CRM file and a change log.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SteelCore is the counter-example: a freelancer quoted under a third of our price, so by the CEO's own rule it drops to the 'gone quiet, consider closing' list instead of nagging him.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Free-tier Gemini content may be used by Google to improve its products, so it is for synthetic data only. Haiku for extraction because it's high volume and schema-bound; the quote check in code makes the cheaper model safe. Sonnet only where a client will read the output or reasoning spans several conversations.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North Star is the CEO's own definition of success. It measures the root cause directly, moves within weeks, and leads win rate and revenue, which are slower to move.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Kill switch: if any message is sent without a human, or any CRM write lacks an approval, capture and drafts switch off and the list goes read-only.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upfront that the 100% numbers measure the engine, not an unseen model. That honesty is the point: the eval harness exists, and the live run is the first gate in the rollout.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ask. And the reminder: this week alone, ShopSwift's SOW, HealthFirst's board, NovaPharma's questionnaire and Meridian's budget review are all live. That is the cost of waiting.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4F5F8"/>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812800"/>
            <a:ext cx="10566400" cy="447014"/>
          </a:xfrm>
          <a:prstGeom prst="rect">
            <a:avLst/>
          </a:prstGeom>
          <a:noFill/>
          <a:ln/>
        </p:spPr>
        <p:txBody>
          <a:bodyPr wrap="square" lIns="0" tIns="0" rIns="0" bIns="0" rtlCol="0" anchor="t"/>
          <a:lstStyle>
            <a:lvl1pPr algn="l" indent="0" marL="0">
              <a:lnSpc>
                <a:spcPct val="115000"/>
              </a:lnSpc>
              <a:buNone/>
              <a:defRPr lang="en-US" sz="3200" dirty="0">
                <a:solidFill>
                  <a:srgbClr val="172033"/>
                </a:solidFill>
                <a:latin typeface="Schibsted Grotesk" pitchFamily="34" charset="0"/>
                <a:ea typeface="Schibsted Grotesk" pitchFamily="34" charset="-122"/>
                <a:cs typeface="Schibsted Grotesk"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564614"/>
            <a:ext cx="10566400" cy="4480586"/>
          </a:xfrm>
          <a:prstGeom prst="rect">
            <a:avLst/>
          </a:prstGeom>
          <a:noFill/>
          <a:ln/>
        </p:spPr>
        <p:txBody>
          <a:bodyPr wrap="square" lIns="0" tIns="0" rIns="0" bIns="0" rtlCol="0" anchor="t"/>
          <a:lstStyle>
            <a:lvl1pPr algn="l" indent="0" marL="0">
              <a:lnSpc>
                <a:spcPct val="140000"/>
              </a:lnSpc>
              <a:buNone/>
              <a:defRPr lang="en-US" sz="1600" dirty="0">
                <a:solidFill>
                  <a:srgbClr val="172033"/>
                </a:solidFill>
                <a:latin typeface="Schibsted Grotesk" pitchFamily="34" charset="0"/>
                <a:ea typeface="Schibsted Grotesk" pitchFamily="34" charset="-122"/>
                <a:cs typeface="Schibsted Grotesk"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4F5F8"/>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812800"/>
            <a:ext cx="10566400" cy="447014"/>
          </a:xfrm>
          <a:prstGeom prst="rect">
            <a:avLst/>
          </a:prstGeom>
          <a:noFill/>
          <a:ln/>
        </p:spPr>
        <p:txBody>
          <a:bodyPr wrap="square" lIns="0" tIns="0" rIns="0" bIns="0" rtlCol="0" anchor="t"/>
          <a:lstStyle>
            <a:lvl1pPr algn="l" indent="0" marL="0">
              <a:lnSpc>
                <a:spcPct val="115000"/>
              </a:lnSpc>
              <a:buNone/>
              <a:defRPr lang="en-US" sz="3200" dirty="0">
                <a:solidFill>
                  <a:srgbClr val="172033"/>
                </a:solidFill>
                <a:latin typeface="Schibsted Grotesk" pitchFamily="34" charset="0"/>
                <a:ea typeface="Schibsted Grotesk" pitchFamily="34" charset="-122"/>
                <a:cs typeface="Schibsted Grotesk"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564614"/>
            <a:ext cx="10566400" cy="4480586"/>
          </a:xfrm>
          <a:prstGeom prst="rect">
            <a:avLst/>
          </a:prstGeom>
          <a:noFill/>
          <a:ln/>
        </p:spPr>
        <p:txBody>
          <a:bodyPr wrap="square" lIns="0" tIns="0" rIns="0" bIns="0" rtlCol="0" anchor="t"/>
          <a:lstStyle>
            <a:lvl1pPr algn="l" indent="0" marL="0">
              <a:lnSpc>
                <a:spcPct val="140000"/>
              </a:lnSpc>
              <a:buNone/>
              <a:defRPr lang="en-US" sz="1600" dirty="0">
                <a:solidFill>
                  <a:srgbClr val="172033"/>
                </a:solidFill>
                <a:latin typeface="Schibsted Grotesk" pitchFamily="34" charset="0"/>
                <a:ea typeface="Schibsted Grotesk" pitchFamily="34" charset="-122"/>
                <a:cs typeface="Schibsted Grotesk"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hyperlink" Target="https://code-basics-ai-pm.vercel.app/" TargetMode="External"/><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2.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slideLayout" Target="../slideLayouts/slideLayout2.xml"/><Relationship Id="rId6"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72033"/>
        </a:solidFill>
      </p:bgPr>
    </p:bg>
    <p:spTree>
      <p:nvGrpSpPr>
        <p:cNvPr id="1" name=""/>
        <p:cNvGrpSpPr/>
        <p:nvPr/>
      </p:nvGrpSpPr>
      <p:grpSpPr>
        <a:xfrm>
          <a:off x="0" y="0"/>
          <a:ext cx="0" cy="0"/>
          <a:chOff x="0" y="0"/>
          <a:chExt cx="0" cy="0"/>
        </a:xfrm>
      </p:grpSpPr>
      <p:sp>
        <p:nvSpPr>
          <p:cNvPr id="2" name="Text 0"/>
          <p:cNvSpPr/>
          <p:nvPr/>
        </p:nvSpPr>
        <p:spPr>
          <a:xfrm>
            <a:off x="812800" y="812800"/>
            <a:ext cx="10883392" cy="309827"/>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B8C2D6"/>
                </a:solidFill>
                <a:latin typeface="Schibsted Grotesk" pitchFamily="34" charset="0"/>
                <a:ea typeface="Schibsted Grotesk" pitchFamily="34" charset="-122"/>
                <a:cs typeface="Schibsted Grotesk" pitchFamily="34" charset="-120"/>
              </a:rPr>
              <a:t>Recall: sales memory for AtliQ</a:t>
            </a:r>
            <a:endParaRPr lang="en-US" sz="1600" dirty="0"/>
          </a:p>
        </p:txBody>
      </p:sp>
      <p:sp>
        <p:nvSpPr>
          <p:cNvPr id="3" name="Text 1"/>
          <p:cNvSpPr/>
          <p:nvPr>
            <p:ph type="title"/>
          </p:nvPr>
        </p:nvSpPr>
        <p:spPr>
          <a:xfrm>
            <a:off x="812800" y="2029553"/>
            <a:ext cx="9810750" cy="2265561"/>
          </a:xfrm>
          <a:prstGeom prst="rect">
            <a:avLst/>
          </a:prstGeom>
          <a:noFill/>
          <a:ln/>
        </p:spPr>
        <p:txBody>
          <a:bodyPr wrap="square" lIns="0" tIns="0" rIns="0" bIns="0" rtlCol="0" anchor="t">
            <a:normAutofit/>
          </a:bodyPr>
          <a:lstStyle/>
          <a:p>
            <a:pPr algn="l" indent="0" marL="0">
              <a:lnSpc>
                <a:spcPts val="5880"/>
              </a:lnSpc>
              <a:buNone/>
            </a:pPr>
            <a:r>
              <a:rPr lang="en-US" sz="5600" b="1" i="0" spc="-100" kern="0" dirty="0">
                <a:solidFill>
                  <a:srgbClr val="F4F5F8"/>
                </a:solidFill>
                <a:latin typeface="Schibsted Grotesk" pitchFamily="34" charset="0"/>
                <a:ea typeface="Schibsted Grotesk" pitchFamily="34" charset="-122"/>
                <a:cs typeface="Schibsted Grotesk" pitchFamily="34" charset="-120"/>
              </a:rPr>
              <a:t>AtliQ doesn't have a lead problem. It has a memory problem.</a:t>
            </a:r>
            <a:endParaRPr lang="en-US" sz="5600" dirty="0"/>
          </a:p>
        </p:txBody>
      </p:sp>
      <p:sp>
        <p:nvSpPr>
          <p:cNvPr id="4" name="Text 2"/>
          <p:cNvSpPr/>
          <p:nvPr/>
        </p:nvSpPr>
        <p:spPr>
          <a:xfrm>
            <a:off x="812800" y="5273146"/>
            <a:ext cx="3881719" cy="594254"/>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B8C2D6"/>
                </a:solidFill>
                <a:latin typeface="Schibsted Grotesk" pitchFamily="34" charset="0"/>
                <a:ea typeface="Schibsted Grotesk" pitchFamily="34" charset="-122"/>
                <a:cs typeface="Schibsted Grotesk" pitchFamily="34" charset="-120"/>
              </a:rPr>
              <a:t>Capstone 1: AtliQ Sales &amp; CRM Assistant</a:t>
            </a:r>
            <a:endParaRPr lang="en-US" sz="1600" dirty="0"/>
          </a:p>
          <a:p>
            <a:pPr algn="l" indent="0" marL="0">
              <a:lnSpc>
                <a:spcPts val="2240"/>
              </a:lnSpc>
              <a:buNone/>
            </a:pPr>
            <a:r>
              <a:rPr lang="en-US" sz="1600" dirty="0">
                <a:solidFill>
                  <a:srgbClr val="B8C2D6"/>
                </a:solidFill>
                <a:latin typeface="Schibsted Grotesk" pitchFamily="34" charset="0"/>
                <a:ea typeface="Schibsted Grotesk" pitchFamily="34" charset="-122"/>
                <a:cs typeface="Schibsted Grotesk" pitchFamily="34" charset="-120"/>
              </a:rPr>
              <a:t>Yaswanth, AI Product Manager</a:t>
            </a:r>
            <a:endParaRPr lang="en-US" sz="1600" dirty="0"/>
          </a:p>
        </p:txBody>
      </p:sp>
      <p:sp>
        <p:nvSpPr>
          <p:cNvPr id="5" name="Text 3"/>
          <p:cNvSpPr/>
          <p:nvPr/>
        </p:nvSpPr>
        <p:spPr>
          <a:xfrm>
            <a:off x="8821116" y="5202039"/>
            <a:ext cx="2558085" cy="665361"/>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8C2D6"/>
                </a:solidFill>
                <a:latin typeface="Schibsted Grotesk" pitchFamily="34" charset="0"/>
                <a:ea typeface="Schibsted Grotesk" pitchFamily="34" charset="-122"/>
                <a:cs typeface="Schibsted Grotesk" pitchFamily="34" charset="-120"/>
              </a:rPr>
              <a:t>For Bhavin, Dhaval and Karandeep</a:t>
            </a:r>
            <a:endParaRPr lang="en-US" sz="1200" dirty="0"/>
          </a:p>
          <a:p>
            <a:pPr algn="r" indent="0" marL="0">
              <a:lnSpc>
                <a:spcPts val="1680"/>
              </a:lnSpc>
              <a:buNone/>
            </a:pPr>
            <a:r>
              <a:rPr lang="en-US" sz="1200" dirty="0">
                <a:solidFill>
                  <a:srgbClr val="B8C2D6"/>
                </a:solidFill>
                <a:latin typeface="Schibsted Grotesk" pitchFamily="34" charset="0"/>
                <a:ea typeface="Schibsted Grotesk" pitchFamily="34" charset="-122"/>
                <a:cs typeface="Schibsted Grotesk" pitchFamily="34" charset="-120"/>
              </a:rPr>
              <a:t>Data as of 10 July 2026</a:t>
            </a:r>
            <a:endParaRPr lang="en-US" sz="1200" dirty="0"/>
          </a:p>
          <a:p>
            <a:pPr algn="r" indent="0" marL="0">
              <a:lnSpc>
                <a:spcPts val="1680"/>
              </a:lnSpc>
              <a:buNone/>
            </a:pPr>
            <a:r>
              <a:rPr lang="en-US" sz="1200" dirty="0">
                <a:solidFill>
                  <a:srgbClr val="B8C2D6"/>
                </a:solidFill>
                <a:latin typeface="Schibsted Grotesk" pitchFamily="34" charset="0"/>
                <a:ea typeface="Schibsted Grotesk" pitchFamily="34" charset="-122"/>
                <a:cs typeface="Schibsted Grotesk" pitchFamily="34" charset="-120"/>
              </a:rPr>
              <a:t>Live: </a:t>
            </a:r>
            <a:r>
              <a:rPr lang="en-US" sz="1200" u="sng" dirty="0">
                <a:solidFill>
                  <a:srgbClr val="B8C2D6"/>
                </a:solidFill>
                <a:latin typeface="Schibsted Grotesk" pitchFamily="34" charset="0"/>
                <a:ea typeface="Schibsted Grotesk" pitchFamily="34" charset="-122"/>
                <a:cs typeface="Schibsted Grotesk" pitchFamily="34" charset="-120"/>
                <a:hlinkClick r:id="rId1" invalidUrl="" action="" tgtFrame="" tooltip="" history="1" highlightClick="0" endSnd="0">
                  <a:extLst>
                    <a:ext uri="{A12FA001-AC4F-418D-AE19-62706E023703}">
                      <ahyp:hlinkClr xmlns:ahyp="http://schemas.microsoft.com/office/drawing/2018/hyperlinkcolor" val="tx"/>
                    </a:ext>
                  </a:extLst>
                </a:hlinkClick>
              </a:rPr>
              <a:t>code-basics-ai-pm.vercel.app</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5F8"/>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72033"/>
                </a:solidFill>
                <a:latin typeface="Schibsted Grotesk" pitchFamily="34" charset="0"/>
                <a:ea typeface="Schibsted Grotesk" pitchFamily="34" charset="-122"/>
                <a:cs typeface="Schibsted Grotesk" pitchFamily="34" charset="-120"/>
              </a:rPr>
              <a:t>On 10 July, 33 clients were waiting on AtliQ</a:t>
            </a:r>
            <a:endParaRPr lang="en-US" sz="3200" dirty="0"/>
          </a:p>
        </p:txBody>
      </p:sp>
      <p:sp>
        <p:nvSpPr>
          <p:cNvPr id="3" name="Shape 1"/>
          <p:cNvSpPr/>
          <p:nvPr/>
        </p:nvSpPr>
        <p:spPr>
          <a:xfrm>
            <a:off x="815975" y="1618589"/>
            <a:ext cx="2482850" cy="2801078"/>
          </a:xfrm>
          <a:prstGeom prst="roundRect">
            <a:avLst>
              <a:gd name="adj" fmla="val 3964"/>
            </a:avLst>
          </a:prstGeom>
          <a:solidFill>
            <a:srgbClr val="FBFBFC"/>
          </a:solidFill>
          <a:ln w="6350">
            <a:solidFill>
              <a:srgbClr val="DCE1E8"/>
            </a:solidFill>
            <a:prstDash val="solid"/>
          </a:ln>
        </p:spPr>
      </p:sp>
      <p:sp>
        <p:nvSpPr>
          <p:cNvPr id="4" name="Text 2"/>
          <p:cNvSpPr/>
          <p:nvPr/>
        </p:nvSpPr>
        <p:spPr>
          <a:xfrm>
            <a:off x="1071033" y="1873647"/>
            <a:ext cx="2031915" cy="736600"/>
          </a:xfrm>
          <a:prstGeom prst="rect">
            <a:avLst/>
          </a:prstGeom>
          <a:noFill/>
          <a:ln/>
        </p:spPr>
        <p:txBody>
          <a:bodyPr wrap="square" lIns="0" tIns="0" rIns="0" bIns="0" rtlCol="0" anchor="t">
            <a:normAutofit/>
          </a:bodyPr>
          <a:lstStyle/>
          <a:p>
            <a:pPr algn="l" indent="0" marL="0">
              <a:lnSpc>
                <a:spcPts val="5600"/>
              </a:lnSpc>
              <a:buNone/>
            </a:pPr>
            <a:r>
              <a:rPr lang="en-US" sz="5600" dirty="0">
                <a:solidFill>
                  <a:srgbClr val="B42318"/>
                </a:solidFill>
                <a:latin typeface="Schibsted Grotesk" pitchFamily="34" charset="0"/>
                <a:ea typeface="Schibsted Grotesk" pitchFamily="34" charset="-122"/>
                <a:cs typeface="Schibsted Grotesk" pitchFamily="34" charset="-120"/>
              </a:rPr>
              <a:t>15</a:t>
            </a:r>
            <a:endParaRPr lang="en-US" sz="5600" dirty="0"/>
          </a:p>
        </p:txBody>
      </p:sp>
      <p:sp>
        <p:nvSpPr>
          <p:cNvPr id="5" name="Text 3"/>
          <p:cNvSpPr/>
          <p:nvPr/>
        </p:nvSpPr>
        <p:spPr>
          <a:xfrm>
            <a:off x="1071033" y="2661047"/>
            <a:ext cx="2031915" cy="817761"/>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172033"/>
                </a:solidFill>
                <a:latin typeface="Schibsted Grotesk" pitchFamily="34" charset="0"/>
                <a:ea typeface="Schibsted Grotesk" pitchFamily="34" charset="-122"/>
                <a:cs typeface="Schibsted Grotesk" pitchFamily="34" charset="-120"/>
              </a:rPr>
              <a:t>days: median time a waiting client had waited</a:t>
            </a:r>
            <a:endParaRPr lang="en-US" sz="1600" dirty="0"/>
          </a:p>
        </p:txBody>
      </p:sp>
      <p:sp>
        <p:nvSpPr>
          <p:cNvPr id="6" name="Shape 4"/>
          <p:cNvSpPr/>
          <p:nvPr/>
        </p:nvSpPr>
        <p:spPr>
          <a:xfrm>
            <a:off x="3508375" y="1618589"/>
            <a:ext cx="2482850" cy="2801078"/>
          </a:xfrm>
          <a:prstGeom prst="roundRect">
            <a:avLst>
              <a:gd name="adj" fmla="val 3964"/>
            </a:avLst>
          </a:prstGeom>
          <a:solidFill>
            <a:srgbClr val="FBFBFC"/>
          </a:solidFill>
          <a:ln w="6350">
            <a:solidFill>
              <a:srgbClr val="DCE1E8"/>
            </a:solidFill>
            <a:prstDash val="solid"/>
          </a:ln>
        </p:spPr>
      </p:sp>
      <p:sp>
        <p:nvSpPr>
          <p:cNvPr id="7" name="Text 5"/>
          <p:cNvSpPr/>
          <p:nvPr/>
        </p:nvSpPr>
        <p:spPr>
          <a:xfrm>
            <a:off x="3763433" y="1873647"/>
            <a:ext cx="2031915" cy="736600"/>
          </a:xfrm>
          <a:prstGeom prst="rect">
            <a:avLst/>
          </a:prstGeom>
          <a:noFill/>
          <a:ln/>
        </p:spPr>
        <p:txBody>
          <a:bodyPr wrap="square" lIns="0" tIns="0" rIns="0" bIns="0" rtlCol="0" anchor="t">
            <a:normAutofit/>
          </a:bodyPr>
          <a:lstStyle/>
          <a:p>
            <a:pPr algn="l" indent="0" marL="0">
              <a:lnSpc>
                <a:spcPts val="5600"/>
              </a:lnSpc>
              <a:buNone/>
            </a:pPr>
            <a:r>
              <a:rPr lang="en-US" sz="5600" dirty="0">
                <a:solidFill>
                  <a:srgbClr val="172033"/>
                </a:solidFill>
                <a:latin typeface="Schibsted Grotesk" pitchFamily="34" charset="0"/>
                <a:ea typeface="Schibsted Grotesk" pitchFamily="34" charset="-122"/>
                <a:cs typeface="Schibsted Grotesk" pitchFamily="34" charset="-120"/>
              </a:rPr>
              <a:t>0</a:t>
            </a:r>
            <a:r>
              <a:rPr lang="en-US" sz="5600" dirty="0">
                <a:solidFill>
                  <a:srgbClr val="6B7487"/>
                </a:solidFill>
                <a:latin typeface="Schibsted Grotesk" pitchFamily="34" charset="0"/>
                <a:ea typeface="Schibsted Grotesk" pitchFamily="34" charset="-122"/>
                <a:cs typeface="Schibsted Grotesk" pitchFamily="34" charset="-120"/>
              </a:rPr>
              <a:t>/40</a:t>
            </a:r>
            <a:endParaRPr lang="en-US" sz="5600" dirty="0"/>
          </a:p>
        </p:txBody>
      </p:sp>
      <p:sp>
        <p:nvSpPr>
          <p:cNvPr id="8" name="Text 6"/>
          <p:cNvSpPr/>
          <p:nvPr/>
        </p:nvSpPr>
        <p:spPr>
          <a:xfrm>
            <a:off x="3763433" y="2661047"/>
            <a:ext cx="2031915" cy="553641"/>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172033"/>
                </a:solidFill>
                <a:latin typeface="Schibsted Grotesk" pitchFamily="34" charset="0"/>
                <a:ea typeface="Schibsted Grotesk" pitchFamily="34" charset="-122"/>
                <a:cs typeface="Schibsted Grotesk" pitchFamily="34" charset="-120"/>
              </a:rPr>
              <a:t>CRM records with a next follow-up date</a:t>
            </a:r>
            <a:endParaRPr lang="en-US" sz="1600" dirty="0"/>
          </a:p>
        </p:txBody>
      </p:sp>
      <p:sp>
        <p:nvSpPr>
          <p:cNvPr id="9" name="Shape 7"/>
          <p:cNvSpPr/>
          <p:nvPr/>
        </p:nvSpPr>
        <p:spPr>
          <a:xfrm>
            <a:off x="6200775" y="1618589"/>
            <a:ext cx="2482850" cy="2801078"/>
          </a:xfrm>
          <a:prstGeom prst="roundRect">
            <a:avLst>
              <a:gd name="adj" fmla="val 3964"/>
            </a:avLst>
          </a:prstGeom>
          <a:solidFill>
            <a:srgbClr val="FBFBFC"/>
          </a:solidFill>
          <a:ln w="6350">
            <a:solidFill>
              <a:srgbClr val="DCE1E8"/>
            </a:solidFill>
            <a:prstDash val="solid"/>
          </a:ln>
        </p:spPr>
      </p:sp>
      <p:sp>
        <p:nvSpPr>
          <p:cNvPr id="10" name="Text 8"/>
          <p:cNvSpPr/>
          <p:nvPr/>
        </p:nvSpPr>
        <p:spPr>
          <a:xfrm>
            <a:off x="6455833" y="1873647"/>
            <a:ext cx="2031915" cy="736600"/>
          </a:xfrm>
          <a:prstGeom prst="rect">
            <a:avLst/>
          </a:prstGeom>
          <a:noFill/>
          <a:ln/>
        </p:spPr>
        <p:txBody>
          <a:bodyPr wrap="square" lIns="0" tIns="0" rIns="0" bIns="0" rtlCol="0" anchor="t">
            <a:normAutofit/>
          </a:bodyPr>
          <a:lstStyle/>
          <a:p>
            <a:pPr algn="l" indent="0" marL="0">
              <a:lnSpc>
                <a:spcPts val="5600"/>
              </a:lnSpc>
              <a:buNone/>
            </a:pPr>
            <a:r>
              <a:rPr lang="en-US" sz="5600" dirty="0">
                <a:solidFill>
                  <a:srgbClr val="172033"/>
                </a:solidFill>
                <a:latin typeface="Schibsted Grotesk" pitchFamily="34" charset="0"/>
                <a:ea typeface="Schibsted Grotesk" pitchFamily="34" charset="-122"/>
                <a:cs typeface="Schibsted Grotesk" pitchFamily="34" charset="-120"/>
              </a:rPr>
              <a:t>6</a:t>
            </a:r>
            <a:endParaRPr lang="en-US" sz="5600" dirty="0"/>
          </a:p>
        </p:txBody>
      </p:sp>
      <p:sp>
        <p:nvSpPr>
          <p:cNvPr id="11" name="Text 9"/>
          <p:cNvSpPr/>
          <p:nvPr/>
        </p:nvSpPr>
        <p:spPr>
          <a:xfrm>
            <a:off x="6455833" y="2661047"/>
            <a:ext cx="2031915" cy="553641"/>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172033"/>
                </a:solidFill>
                <a:latin typeface="Schibsted Grotesk" pitchFamily="34" charset="0"/>
                <a:ea typeface="Schibsted Grotesk" pitchFamily="34" charset="-122"/>
                <a:cs typeface="Schibsted Grotesk" pitchFamily="34" charset="-120"/>
              </a:rPr>
              <a:t>live leads not in the CRM at all</a:t>
            </a:r>
            <a:endParaRPr lang="en-US" sz="1600" dirty="0"/>
          </a:p>
        </p:txBody>
      </p:sp>
      <p:sp>
        <p:nvSpPr>
          <p:cNvPr id="12" name="Shape 10"/>
          <p:cNvSpPr/>
          <p:nvPr/>
        </p:nvSpPr>
        <p:spPr>
          <a:xfrm>
            <a:off x="8893175" y="1618589"/>
            <a:ext cx="2482850" cy="2801078"/>
          </a:xfrm>
          <a:prstGeom prst="roundRect">
            <a:avLst>
              <a:gd name="adj" fmla="val 3964"/>
            </a:avLst>
          </a:prstGeom>
          <a:solidFill>
            <a:srgbClr val="FBFBFC"/>
          </a:solidFill>
          <a:ln w="6350">
            <a:solidFill>
              <a:srgbClr val="DCE1E8"/>
            </a:solidFill>
            <a:prstDash val="solid"/>
          </a:ln>
        </p:spPr>
      </p:sp>
      <p:sp>
        <p:nvSpPr>
          <p:cNvPr id="13" name="Text 11"/>
          <p:cNvSpPr/>
          <p:nvPr/>
        </p:nvSpPr>
        <p:spPr>
          <a:xfrm>
            <a:off x="9148234" y="1873647"/>
            <a:ext cx="2031915" cy="1447800"/>
          </a:xfrm>
          <a:prstGeom prst="rect">
            <a:avLst/>
          </a:prstGeom>
          <a:noFill/>
          <a:ln/>
        </p:spPr>
        <p:txBody>
          <a:bodyPr wrap="square" lIns="0" tIns="0" rIns="0" bIns="0" rtlCol="0" anchor="t">
            <a:normAutofit/>
          </a:bodyPr>
          <a:lstStyle/>
          <a:p>
            <a:pPr algn="l" indent="0" marL="0">
              <a:lnSpc>
                <a:spcPts val="5600"/>
              </a:lnSpc>
              <a:buNone/>
            </a:pPr>
            <a:r>
              <a:rPr lang="en-US" sz="5600" dirty="0">
                <a:solidFill>
                  <a:srgbClr val="2F4BA8"/>
                </a:solidFill>
                <a:latin typeface="Schibsted Grotesk" pitchFamily="34" charset="0"/>
                <a:ea typeface="Schibsted Grotesk" pitchFamily="34" charset="-122"/>
                <a:cs typeface="Schibsted Grotesk" pitchFamily="34" charset="-120"/>
              </a:rPr>
              <a:t>$663k</a:t>
            </a:r>
            <a:endParaRPr lang="en-US" sz="5600" dirty="0"/>
          </a:p>
        </p:txBody>
      </p:sp>
      <p:sp>
        <p:nvSpPr>
          <p:cNvPr id="14" name="Text 12"/>
          <p:cNvSpPr/>
          <p:nvPr/>
        </p:nvSpPr>
        <p:spPr>
          <a:xfrm>
            <a:off x="9148234" y="3372247"/>
            <a:ext cx="2031915" cy="817761"/>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172033"/>
                </a:solidFill>
                <a:latin typeface="Schibsted Grotesk" pitchFamily="34" charset="0"/>
                <a:ea typeface="Schibsted Grotesk" pitchFamily="34" charset="-122"/>
                <a:cs typeface="Schibsted Grotesk" pitchFamily="34" charset="-120"/>
              </a:rPr>
              <a:t>known deal value on accounts waiting on us</a:t>
            </a:r>
            <a:endParaRPr lang="en-US" sz="1600" dirty="0"/>
          </a:p>
        </p:txBody>
      </p:sp>
      <p:sp>
        <p:nvSpPr>
          <p:cNvPr id="15" name="Text 13"/>
          <p:cNvSpPr/>
          <p:nvPr/>
        </p:nvSpPr>
        <p:spPr>
          <a:xfrm>
            <a:off x="812800" y="4778442"/>
            <a:ext cx="9810750" cy="594254"/>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5568"/>
                </a:solidFill>
                <a:latin typeface="Schibsted Grotesk" pitchFamily="34" charset="0"/>
                <a:ea typeface="Schibsted Grotesk" pitchFamily="34" charset="-122"/>
                <a:cs typeface="Schibsted Grotesk" pitchFamily="34" charset="-120"/>
              </a:rPr>
              <a:t>Nobody was careless. The asks and promises lived in inboxes, WhatsApp, iMessage, Slack and people's heads, so the CRM couldn't show who was waiting.</a:t>
            </a:r>
            <a:endParaRPr lang="en-US" sz="1600" dirty="0"/>
          </a:p>
        </p:txBody>
      </p:sp>
      <p:sp>
        <p:nvSpPr>
          <p:cNvPr id="16" name="Text 14"/>
          <p:cNvSpPr/>
          <p:nvPr/>
        </p:nvSpPr>
        <p:spPr>
          <a:xfrm>
            <a:off x="812800" y="6238280"/>
            <a:ext cx="91567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487"/>
                </a:solidFill>
                <a:latin typeface="Schibsted Grotesk" pitchFamily="34" charset="0"/>
                <a:ea typeface="Schibsted Grotesk" pitchFamily="34" charset="-122"/>
                <a:cs typeface="Schibsted Grotesk" pitchFamily="34" charset="-120"/>
              </a:rPr>
              <a:t>Source: CRM export (40 rows), 34 emails, 16 meeting notes, 5 channel messages; dataset date 10 Jul 2026</a:t>
            </a:r>
            <a:endParaRPr lang="en-US" sz="1200" dirty="0"/>
          </a:p>
        </p:txBody>
      </p:sp>
      <p:sp>
        <p:nvSpPr>
          <p:cNvPr id="17" name="Text 15"/>
          <p:cNvSpPr/>
          <p:nvPr/>
        </p:nvSpPr>
        <p:spPr>
          <a:xfrm>
            <a:off x="10693400" y="6238280"/>
            <a:ext cx="685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487"/>
                </a:solidFill>
                <a:latin typeface="Schibsted Grotesk" pitchFamily="34" charset="0"/>
                <a:ea typeface="Schibsted Grotesk" pitchFamily="34" charset="-122"/>
                <a:cs typeface="Schibsted Grotesk" pitchFamily="34" charset="-120"/>
              </a:rPr>
              <a:t>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5F8"/>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72033"/>
                </a:solidFill>
                <a:latin typeface="Schibsted Grotesk" pitchFamily="34" charset="0"/>
                <a:ea typeface="Schibsted Grotesk" pitchFamily="34" charset="-122"/>
                <a:cs typeface="Schibsted Grotesk" pitchFamily="34" charset="-120"/>
              </a:rPr>
              <a:t>Three deals that show the pattern</a:t>
            </a:r>
            <a:endParaRPr lang="en-US" sz="3200" dirty="0"/>
          </a:p>
        </p:txBody>
      </p:sp>
      <p:sp>
        <p:nvSpPr>
          <p:cNvPr id="3" name="Shape 1"/>
          <p:cNvSpPr/>
          <p:nvPr/>
        </p:nvSpPr>
        <p:spPr>
          <a:xfrm>
            <a:off x="815975" y="1567790"/>
            <a:ext cx="3380317" cy="2841691"/>
          </a:xfrm>
          <a:prstGeom prst="roundRect">
            <a:avLst>
              <a:gd name="adj" fmla="val 3464"/>
            </a:avLst>
          </a:prstGeom>
          <a:solidFill>
            <a:srgbClr val="FBFBFC"/>
          </a:solidFill>
          <a:ln w="6350">
            <a:solidFill>
              <a:srgbClr val="DCE1E8"/>
            </a:solidFill>
            <a:prstDash val="solid"/>
          </a:ln>
        </p:spPr>
      </p:sp>
      <p:sp>
        <p:nvSpPr>
          <p:cNvPr id="4" name="Text 2"/>
          <p:cNvSpPr/>
          <p:nvPr/>
        </p:nvSpPr>
        <p:spPr>
          <a:xfrm>
            <a:off x="1071033" y="1822847"/>
            <a:ext cx="2956306" cy="360627"/>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72033"/>
                </a:solidFill>
                <a:latin typeface="Schibsted Grotesk" pitchFamily="34" charset="0"/>
                <a:ea typeface="Schibsted Grotesk" pitchFamily="34" charset="-122"/>
                <a:cs typeface="Schibsted Grotesk" pitchFamily="34" charset="-120"/>
              </a:rPr>
              <a:t>FinEdge Bank, $95k</a:t>
            </a:r>
            <a:endParaRPr lang="en-US" sz="2200" dirty="0"/>
          </a:p>
        </p:txBody>
      </p:sp>
      <p:sp>
        <p:nvSpPr>
          <p:cNvPr id="5" name="Text 3"/>
          <p:cNvSpPr/>
          <p:nvPr/>
        </p:nvSpPr>
        <p:spPr>
          <a:xfrm>
            <a:off x="1071033" y="2285074"/>
            <a:ext cx="2956306" cy="102102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Schibsted Grotesk" pitchFamily="34" charset="0"/>
                <a:ea typeface="Schibsted Grotesk" pitchFamily="34" charset="-122"/>
                <a:cs typeface="Schibsted Grotesk" pitchFamily="34" charset="-120"/>
              </a:rPr>
              <a:t>Compliance cleared AtliQ on 19 June. The client asked us to confirm a slot for the commercial call. Nobody did.</a:t>
            </a:r>
            <a:endParaRPr lang="en-US" sz="1400" dirty="0"/>
          </a:p>
        </p:txBody>
      </p:sp>
      <p:sp>
        <p:nvSpPr>
          <p:cNvPr id="6" name="Text 4"/>
          <p:cNvSpPr/>
          <p:nvPr/>
        </p:nvSpPr>
        <p:spPr>
          <a:xfrm>
            <a:off x="1071033" y="3407702"/>
            <a:ext cx="2956306" cy="7721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72033"/>
                </a:solidFill>
                <a:latin typeface="Schibsted Grotesk" pitchFamily="34" charset="0"/>
                <a:ea typeface="Schibsted Grotesk" pitchFamily="34" charset="-122"/>
                <a:cs typeface="Schibsted Grotesk" pitchFamily="34" charset="-120"/>
              </a:rPr>
              <a:t>21 days</a:t>
            </a:r>
            <a:r>
              <a:rPr lang="en-US" sz="1400" dirty="0">
                <a:solidFill>
                  <a:srgbClr val="172033"/>
                </a:solidFill>
                <a:latin typeface="Schibsted Grotesk" pitchFamily="34" charset="0"/>
                <a:ea typeface="Schibsted Grotesk" pitchFamily="34" charset="-122"/>
                <a:cs typeface="Schibsted Grotesk" pitchFamily="34" charset="-120"/>
              </a:rPr>
              <a:t> waiting on the biggest deal in the pipeline. CRM still showed last contact in March.</a:t>
            </a:r>
            <a:endParaRPr lang="en-US" sz="1400" dirty="0"/>
          </a:p>
        </p:txBody>
      </p:sp>
      <p:sp>
        <p:nvSpPr>
          <p:cNvPr id="7" name="Shape 5"/>
          <p:cNvSpPr/>
          <p:nvPr/>
        </p:nvSpPr>
        <p:spPr>
          <a:xfrm>
            <a:off x="4405842" y="1567790"/>
            <a:ext cx="3380317" cy="2841691"/>
          </a:xfrm>
          <a:prstGeom prst="roundRect">
            <a:avLst>
              <a:gd name="adj" fmla="val 3464"/>
            </a:avLst>
          </a:prstGeom>
          <a:solidFill>
            <a:srgbClr val="FBFBFC"/>
          </a:solidFill>
          <a:ln w="6350">
            <a:solidFill>
              <a:srgbClr val="DCE1E8"/>
            </a:solidFill>
            <a:prstDash val="solid"/>
          </a:ln>
        </p:spPr>
      </p:sp>
      <p:sp>
        <p:nvSpPr>
          <p:cNvPr id="8" name="Text 6"/>
          <p:cNvSpPr/>
          <p:nvPr/>
        </p:nvSpPr>
        <p:spPr>
          <a:xfrm>
            <a:off x="4660900" y="1822847"/>
            <a:ext cx="2956306" cy="360627"/>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72033"/>
                </a:solidFill>
                <a:latin typeface="Schibsted Grotesk" pitchFamily="34" charset="0"/>
                <a:ea typeface="Schibsted Grotesk" pitchFamily="34" charset="-122"/>
                <a:cs typeface="Schibsted Grotesk" pitchFamily="34" charset="-120"/>
              </a:rPr>
              <a:t>FreshCart, referral</a:t>
            </a:r>
            <a:endParaRPr lang="en-US" sz="2200" dirty="0"/>
          </a:p>
        </p:txBody>
      </p:sp>
      <p:sp>
        <p:nvSpPr>
          <p:cNvPr id="9" name="Text 7"/>
          <p:cNvSpPr/>
          <p:nvPr/>
        </p:nvSpPr>
        <p:spPr>
          <a:xfrm>
            <a:off x="4660900" y="2285074"/>
            <a:ext cx="2956306" cy="102102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Schibsted Grotesk" pitchFamily="34" charset="0"/>
                <a:ea typeface="Schibsted Grotesk" pitchFamily="34" charset="-122"/>
                <a:cs typeface="Schibsted Grotesk" pitchFamily="34" charset="-120"/>
              </a:rPr>
              <a:t>Referred by Acme, AtliQ's happiest client. We promised a call in May. She chased in June: two other vendors, deciding mid-July.</a:t>
            </a:r>
            <a:endParaRPr lang="en-US" sz="1400" dirty="0"/>
          </a:p>
        </p:txBody>
      </p:sp>
      <p:sp>
        <p:nvSpPr>
          <p:cNvPr id="10" name="Text 8"/>
          <p:cNvSpPr/>
          <p:nvPr/>
        </p:nvSpPr>
        <p:spPr>
          <a:xfrm>
            <a:off x="4660900" y="3407702"/>
            <a:ext cx="2956306" cy="523214"/>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72033"/>
                </a:solidFill>
                <a:latin typeface="Schibsted Grotesk" pitchFamily="34" charset="0"/>
                <a:ea typeface="Schibsted Grotesk" pitchFamily="34" charset="-122"/>
                <a:cs typeface="Schibsted Grotesk" pitchFamily="34" charset="-120"/>
              </a:rPr>
              <a:t>A warm referral going cold</a:t>
            </a:r>
            <a:r>
              <a:rPr lang="en-US" sz="1400" dirty="0">
                <a:solidFill>
                  <a:srgbClr val="172033"/>
                </a:solidFill>
                <a:latin typeface="Schibsted Grotesk" pitchFamily="34" charset="0"/>
                <a:ea typeface="Schibsted Grotesk" pitchFamily="34" charset="-122"/>
                <a:cs typeface="Schibsted Grotesk" pitchFamily="34" charset="-120"/>
              </a:rPr>
              <a:t>, and the referrer's trust with it.</a:t>
            </a:r>
            <a:endParaRPr lang="en-US" sz="1400" dirty="0"/>
          </a:p>
        </p:txBody>
      </p:sp>
      <p:sp>
        <p:nvSpPr>
          <p:cNvPr id="11" name="Shape 9"/>
          <p:cNvSpPr/>
          <p:nvPr/>
        </p:nvSpPr>
        <p:spPr>
          <a:xfrm>
            <a:off x="7995709" y="1567790"/>
            <a:ext cx="3380317" cy="2841691"/>
          </a:xfrm>
          <a:prstGeom prst="roundRect">
            <a:avLst>
              <a:gd name="adj" fmla="val 3464"/>
            </a:avLst>
          </a:prstGeom>
          <a:solidFill>
            <a:srgbClr val="FBFBFC"/>
          </a:solidFill>
          <a:ln w="6350">
            <a:solidFill>
              <a:srgbClr val="DCE1E8"/>
            </a:solidFill>
            <a:prstDash val="solid"/>
          </a:ln>
        </p:spPr>
      </p:sp>
      <p:sp>
        <p:nvSpPr>
          <p:cNvPr id="12" name="Text 10"/>
          <p:cNvSpPr/>
          <p:nvPr/>
        </p:nvSpPr>
        <p:spPr>
          <a:xfrm>
            <a:off x="8250767" y="1822847"/>
            <a:ext cx="2956306" cy="360627"/>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72033"/>
                </a:solidFill>
                <a:latin typeface="Schibsted Grotesk" pitchFamily="34" charset="0"/>
                <a:ea typeface="Schibsted Grotesk" pitchFamily="34" charset="-122"/>
                <a:cs typeface="Schibsted Grotesk" pitchFamily="34" charset="-120"/>
              </a:rPr>
              <a:t>HealthFirst, $30k</a:t>
            </a:r>
            <a:endParaRPr lang="en-US" sz="2200" dirty="0"/>
          </a:p>
        </p:txBody>
      </p:sp>
      <p:sp>
        <p:nvSpPr>
          <p:cNvPr id="13" name="Text 11"/>
          <p:cNvSpPr/>
          <p:nvPr/>
        </p:nvSpPr>
        <p:spPr>
          <a:xfrm>
            <a:off x="8250767" y="2285074"/>
            <a:ext cx="2956306" cy="102102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Schibsted Grotesk" pitchFamily="34" charset="0"/>
                <a:ea typeface="Schibsted Grotesk" pitchFamily="34" charset="-122"/>
                <a:cs typeface="Schibsted Grotesk" pitchFamily="34" charset="-120"/>
              </a:rPr>
              <a:t>The board decides on 14 July. Nobody knew until the CEO searched his inbox during the 7 July meeting.</a:t>
            </a:r>
            <a:endParaRPr lang="en-US" sz="1400" dirty="0"/>
          </a:p>
        </p:txBody>
      </p:sp>
      <p:sp>
        <p:nvSpPr>
          <p:cNvPr id="14" name="Text 12"/>
          <p:cNvSpPr/>
          <p:nvPr/>
        </p:nvSpPr>
        <p:spPr>
          <a:xfrm>
            <a:off x="8250767" y="3407702"/>
            <a:ext cx="2956306" cy="523214"/>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72033"/>
                </a:solidFill>
                <a:latin typeface="Schibsted Grotesk" pitchFamily="34" charset="0"/>
                <a:ea typeface="Schibsted Grotesk" pitchFamily="34" charset="-122"/>
                <a:cs typeface="Schibsted Grotesk" pitchFamily="34" charset="-120"/>
              </a:rPr>
              <a:t>"We find out what's urgent by accident."</a:t>
            </a:r>
            <a:endParaRPr lang="en-US" sz="1400" dirty="0"/>
          </a:p>
        </p:txBody>
      </p:sp>
      <p:sp>
        <p:nvSpPr>
          <p:cNvPr id="15" name="Text 13"/>
          <p:cNvSpPr/>
          <p:nvPr/>
        </p:nvSpPr>
        <p:spPr>
          <a:xfrm>
            <a:off x="10693400" y="6238280"/>
            <a:ext cx="685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487"/>
                </a:solidFill>
                <a:latin typeface="Schibsted Grotesk" pitchFamily="34" charset="0"/>
                <a:ea typeface="Schibsted Grotesk" pitchFamily="34" charset="-122"/>
                <a:cs typeface="Schibsted Grotesk" pitchFamily="34" charset="-120"/>
              </a:rPr>
              <a:t>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5F8"/>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72033"/>
                </a:solidFill>
                <a:latin typeface="Schibsted Grotesk" pitchFamily="34" charset="0"/>
                <a:ea typeface="Schibsted Grotesk" pitchFamily="34" charset="-122"/>
                <a:cs typeface="Schibsted Grotesk" pitchFamily="34" charset="-120"/>
              </a:rPr>
              <a:t>What the founders told us</a:t>
            </a:r>
            <a:endParaRPr lang="en-US" sz="3200" dirty="0"/>
          </a:p>
        </p:txBody>
      </p:sp>
      <p:sp>
        <p:nvSpPr>
          <p:cNvPr id="3" name="Shape 1"/>
          <p:cNvSpPr/>
          <p:nvPr/>
        </p:nvSpPr>
        <p:spPr>
          <a:xfrm>
            <a:off x="831850" y="1564615"/>
            <a:ext cx="0" cy="1320800"/>
          </a:xfrm>
          <a:prstGeom prst="line">
            <a:avLst/>
          </a:prstGeom>
          <a:noFill/>
          <a:ln w="38100">
            <a:solidFill>
              <a:srgbClr val="2F4BA8"/>
            </a:solidFill>
            <a:prstDash val="solid"/>
          </a:ln>
        </p:spPr>
      </p:sp>
      <p:sp>
        <p:nvSpPr>
          <p:cNvPr id="4" name="Text 2"/>
          <p:cNvSpPr/>
          <p:nvPr/>
        </p:nvSpPr>
        <p:spPr>
          <a:xfrm>
            <a:off x="1054100" y="1564615"/>
            <a:ext cx="5062347" cy="1346200"/>
          </a:xfrm>
          <a:prstGeom prst="rect">
            <a:avLst/>
          </a:prstGeom>
          <a:noFill/>
          <a:ln/>
        </p:spPr>
        <p:txBody>
          <a:bodyPr wrap="square" lIns="0" tIns="0" rIns="0" bIns="0" rtlCol="0" anchor="t">
            <a:normAutofit/>
          </a:bodyPr>
          <a:lstStyle/>
          <a:p>
            <a:pPr algn="l" indent="0" marL="0">
              <a:lnSpc>
                <a:spcPts val="2600"/>
              </a:lnSpc>
              <a:buNone/>
            </a:pPr>
            <a:r>
              <a:rPr lang="en-US" sz="2000" b="1" dirty="0">
                <a:solidFill>
                  <a:srgbClr val="172033"/>
                </a:solidFill>
                <a:latin typeface="Schibsted Grotesk" pitchFamily="34" charset="0"/>
                <a:ea typeface="Schibsted Grotesk" pitchFamily="34" charset="-122"/>
                <a:cs typeface="Schibsted Grotesk" pitchFamily="34" charset="-120"/>
              </a:rPr>
              <a:t>"I answer emails on my phone between meetings and it never gets into the system. By the time I'm at a laptop it's gone."</a:t>
            </a:r>
            <a:endParaRPr lang="en-US" sz="2000" dirty="0"/>
          </a:p>
        </p:txBody>
      </p:sp>
      <p:sp>
        <p:nvSpPr>
          <p:cNvPr id="5" name="Shape 3"/>
          <p:cNvSpPr/>
          <p:nvPr/>
        </p:nvSpPr>
        <p:spPr>
          <a:xfrm>
            <a:off x="831850" y="3114015"/>
            <a:ext cx="0" cy="330200"/>
          </a:xfrm>
          <a:prstGeom prst="line">
            <a:avLst/>
          </a:prstGeom>
          <a:noFill/>
          <a:ln w="38100">
            <a:solidFill>
              <a:srgbClr val="2F4BA8"/>
            </a:solidFill>
            <a:prstDash val="solid"/>
          </a:ln>
        </p:spPr>
      </p:sp>
      <p:sp>
        <p:nvSpPr>
          <p:cNvPr id="6" name="Text 4"/>
          <p:cNvSpPr/>
          <p:nvPr/>
        </p:nvSpPr>
        <p:spPr>
          <a:xfrm>
            <a:off x="1054100" y="3114015"/>
            <a:ext cx="5062347" cy="355600"/>
          </a:xfrm>
          <a:prstGeom prst="rect">
            <a:avLst/>
          </a:prstGeom>
          <a:noFill/>
          <a:ln/>
        </p:spPr>
        <p:txBody>
          <a:bodyPr wrap="square" lIns="0" tIns="0" rIns="0" bIns="0" rtlCol="0" anchor="t">
            <a:normAutofit/>
          </a:bodyPr>
          <a:lstStyle/>
          <a:p>
            <a:pPr algn="l" indent="0" marL="0">
              <a:lnSpc>
                <a:spcPts val="2600"/>
              </a:lnSpc>
              <a:buNone/>
            </a:pPr>
            <a:r>
              <a:rPr lang="en-US" sz="2000" b="1" dirty="0">
                <a:solidFill>
                  <a:srgbClr val="172033"/>
                </a:solidFill>
                <a:latin typeface="Schibsted Grotesk" pitchFamily="34" charset="0"/>
                <a:ea typeface="Schibsted Grotesk" pitchFamily="34" charset="-122"/>
                <a:cs typeface="Schibsted Grotesk" pitchFamily="34" charset="-120"/>
              </a:rPr>
              <a:t>"No client should ever wait for a reply."</a:t>
            </a:r>
            <a:endParaRPr lang="en-US" sz="2000" dirty="0"/>
          </a:p>
        </p:txBody>
      </p:sp>
      <p:sp>
        <p:nvSpPr>
          <p:cNvPr id="7" name="Shape 5"/>
          <p:cNvSpPr/>
          <p:nvPr/>
        </p:nvSpPr>
        <p:spPr>
          <a:xfrm>
            <a:off x="6226175" y="1567790"/>
            <a:ext cx="5149850" cy="3175463"/>
          </a:xfrm>
          <a:prstGeom prst="roundRect">
            <a:avLst>
              <a:gd name="adj" fmla="val 3100"/>
            </a:avLst>
          </a:prstGeom>
          <a:solidFill>
            <a:srgbClr val="FBFBFC"/>
          </a:solidFill>
          <a:ln w="6350">
            <a:solidFill>
              <a:srgbClr val="DCE1E8"/>
            </a:solidFill>
            <a:prstDash val="solid"/>
          </a:ln>
        </p:spPr>
      </p:sp>
      <p:sp>
        <p:nvSpPr>
          <p:cNvPr id="8" name="Text 6"/>
          <p:cNvSpPr/>
          <p:nvPr/>
        </p:nvSpPr>
        <p:spPr>
          <a:xfrm>
            <a:off x="6481233" y="1822847"/>
            <a:ext cx="4778925"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72033"/>
                </a:solidFill>
                <a:latin typeface="Schibsted Grotesk" pitchFamily="34" charset="0"/>
                <a:ea typeface="Schibsted Grotesk" pitchFamily="34" charset="-122"/>
                <a:cs typeface="Schibsted Grotesk" pitchFamily="34" charset="-120"/>
              </a:rPr>
              <a:t>How selling actually happens</a:t>
            </a:r>
            <a:endParaRPr lang="en-US" sz="1600" dirty="0"/>
          </a:p>
        </p:txBody>
      </p:sp>
      <p:sp>
        <p:nvSpPr>
          <p:cNvPr id="9" name="Text 7"/>
          <p:cNvSpPr/>
          <p:nvPr/>
        </p:nvSpPr>
        <p:spPr>
          <a:xfrm>
            <a:off x="6565815" y="2168261"/>
            <a:ext cx="4686723" cy="2345333"/>
          </a:xfrm>
          <a:prstGeom prst="rect">
            <a:avLst/>
          </a:prstGeom>
          <a:noFill/>
          <a:ln/>
        </p:spPr>
        <p:txBody>
          <a:bodyPr wrap="square" lIns="0" tIns="0" rIns="0" bIns="0" rtlCol="0" anchor="t">
            <a:normAutofit/>
          </a:bodyPr>
          <a:lstStyle/>
          <a:p>
            <a:pPr algn="l" marL="169418" indent="-169418">
              <a:lnSpc>
                <a:spcPts val="2030"/>
              </a:lnSpc>
              <a:buSzPct val="100000"/>
              <a:buChar char="•"/>
            </a:pPr>
            <a:r>
              <a:rPr lang="en-US" sz="1400" dirty="0">
                <a:solidFill>
                  <a:srgbClr val="33405A"/>
                </a:solidFill>
                <a:latin typeface="Schibsted Grotesk" pitchFamily="34" charset="0"/>
                <a:ea typeface="Schibsted Grotesk" pitchFamily="34" charset="-122"/>
                <a:cs typeface="Schibsted Grotesk" pitchFamily="34" charset="-120"/>
              </a:rPr>
              <a:t>Calls on WhatsApp, RingCentral, FaceTime, Teams, often while commuting</a:t>
            </a:r>
            <a:endParaRPr lang="en-US" sz="1400" dirty="0"/>
          </a:p>
          <a:p>
            <a:pPr algn="l" marL="169418" indent="-169418">
              <a:lnSpc>
                <a:spcPts val="2030"/>
              </a:lnSpc>
              <a:buSzPct val="100000"/>
              <a:buChar char="•"/>
            </a:pPr>
            <a:r>
              <a:rPr lang="en-US" sz="1400" dirty="0">
                <a:solidFill>
                  <a:srgbClr val="33405A"/>
                </a:solidFill>
                <a:latin typeface="Schibsted Grotesk" pitchFamily="34" charset="0"/>
                <a:ea typeface="Schibsted Grotesk" pitchFamily="34" charset="-122"/>
                <a:cs typeface="Schibsted Grotesk" pitchFamily="34" charset="-120"/>
              </a:rPr>
              <a:t>Leads via iMessage, WhatsApp, LinkedIn, Slack Connect, forwards</a:t>
            </a:r>
            <a:endParaRPr lang="en-US" sz="1400" dirty="0"/>
          </a:p>
          <a:p>
            <a:pPr algn="l" marL="169418" indent="-169418">
              <a:lnSpc>
                <a:spcPts val="2030"/>
              </a:lnSpc>
              <a:buSzPct val="100000"/>
              <a:buChar char="•"/>
            </a:pPr>
            <a:r>
              <a:rPr lang="en-US" sz="1400" dirty="0">
                <a:solidFill>
                  <a:srgbClr val="33405A"/>
                </a:solidFill>
                <a:latin typeface="Schibsted Grotesk" pitchFamily="34" charset="0"/>
                <a:ea typeface="Schibsted Grotesk" pitchFamily="34" charset="-122"/>
                <a:cs typeface="Schibsted Grotesk" pitchFamily="34" charset="-120"/>
              </a:rPr>
              <a:t>Logging is delegated by forward; the hand-off drops too</a:t>
            </a:r>
            <a:endParaRPr lang="en-US" sz="1400" dirty="0"/>
          </a:p>
          <a:p>
            <a:pPr algn="l" marL="169418" indent="-169418">
              <a:lnSpc>
                <a:spcPts val="2030"/>
              </a:lnSpc>
              <a:buSzPct val="100000"/>
              <a:buChar char="•"/>
            </a:pPr>
            <a:r>
              <a:rPr lang="en-US" sz="1400" dirty="0">
                <a:solidFill>
                  <a:srgbClr val="33405A"/>
                </a:solidFill>
                <a:latin typeface="Schibsted Grotesk" pitchFamily="34" charset="0"/>
                <a:ea typeface="Schibsted Grotesk" pitchFamily="34" charset="-122"/>
                <a:cs typeface="Schibsted Grotesk" pitchFamily="34" charset="-120"/>
              </a:rPr>
              <a:t>Priority by gut: urgency, budget, competition</a:t>
            </a:r>
            <a:endParaRPr lang="en-US" sz="1400" dirty="0"/>
          </a:p>
          <a:p>
            <a:pPr algn="l" marL="169418" indent="-169418">
              <a:lnSpc>
                <a:spcPts val="2030"/>
              </a:lnSpc>
              <a:buSzPct val="100000"/>
              <a:buChar char="•"/>
            </a:pPr>
            <a:r>
              <a:rPr lang="en-US" sz="1400" dirty="0">
                <a:solidFill>
                  <a:srgbClr val="33405A"/>
                </a:solidFill>
                <a:latin typeface="Schibsted Grotesk" pitchFamily="34" charset="0"/>
                <a:ea typeface="Schibsted Grotesk" pitchFamily="34" charset="-122"/>
                <a:cs typeface="Schibsted Grotesk" pitchFamily="34" charset="-120"/>
              </a:rPr>
              <a:t>Kaizen, the in-house CRM, works. It just never hears about the conversations</a:t>
            </a:r>
            <a:endParaRPr lang="en-US" sz="1400" dirty="0"/>
          </a:p>
        </p:txBody>
      </p:sp>
      <p:sp>
        <p:nvSpPr>
          <p:cNvPr id="10" name="Text 8"/>
          <p:cNvSpPr/>
          <p:nvPr/>
        </p:nvSpPr>
        <p:spPr>
          <a:xfrm>
            <a:off x="812800" y="6238280"/>
            <a:ext cx="91567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487"/>
                </a:solidFill>
                <a:latin typeface="Schibsted Grotesk" pitchFamily="34" charset="0"/>
                <a:ea typeface="Schibsted Grotesk" pitchFamily="34" charset="-122"/>
                <a:cs typeface="Schibsted Grotesk" pitchFamily="34" charset="-120"/>
              </a:rPr>
              <a:t>Sources: internal pipeline review, 2 Jul; office hours with the client, meetings 1 and 2</a:t>
            </a:r>
            <a:endParaRPr lang="en-US" sz="1200" dirty="0"/>
          </a:p>
        </p:txBody>
      </p:sp>
      <p:sp>
        <p:nvSpPr>
          <p:cNvPr id="11" name="Text 9"/>
          <p:cNvSpPr/>
          <p:nvPr/>
        </p:nvSpPr>
        <p:spPr>
          <a:xfrm>
            <a:off x="10693400" y="6238280"/>
            <a:ext cx="685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487"/>
                </a:solidFill>
                <a:latin typeface="Schibsted Grotesk" pitchFamily="34" charset="0"/>
                <a:ea typeface="Schibsted Grotesk" pitchFamily="34" charset="-122"/>
                <a:cs typeface="Schibsted Grotesk" pitchFamily="34" charset="-120"/>
              </a:rPr>
              <a:t>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5F8"/>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72033"/>
                </a:solidFill>
                <a:latin typeface="Schibsted Grotesk" pitchFamily="34" charset="0"/>
                <a:ea typeface="Schibsted Grotesk" pitchFamily="34" charset="-122"/>
                <a:cs typeface="Schibsted Grotesk" pitchFamily="34" charset="-120"/>
              </a:rPr>
              <a:t>Five whys: from slow replies to the real cause</a:t>
            </a:r>
            <a:endParaRPr lang="en-US" sz="32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25500" y="1526515"/>
          <a:ext cx="10553700" cy="2564672"/>
        </p:xfrm>
        <a:graphic>
          <a:graphicData uri="http://schemas.openxmlformats.org/drawingml/2006/table">
            <a:tbl>
              <a:tblPr/>
              <a:tblGrid>
                <a:gridCol w="844296"/>
                <a:gridCol w="4432554"/>
                <a:gridCol w="5276850"/>
              </a:tblGrid>
              <a:tr h="385961">
                <a:tc>
                  <a:txBody>
                    <a:bodyPr/>
                    <a:lstStyle/>
                    <a:p>
                      <a:pPr indent="0" marL="0">
                        <a:lnSpc>
                          <a:spcPts val="1960"/>
                        </a:lnSpc>
                        <a:buNone/>
                      </a:pPr>
                      <a:r>
                        <a:rPr lang="en-US" sz="1400" b="1" dirty="0">
                          <a:solidFill>
                            <a:srgbClr val="172033"/>
                          </a:solidFill>
                          <a:latin typeface="Schibsted Grotesk" pitchFamily="34" charset="0"/>
                          <a:ea typeface="Schibsted Grotesk" pitchFamily="34" charset="-122"/>
                          <a:cs typeface="Schibsted Grotesk" pitchFamily="34" charset="-120"/>
                        </a:rPr>
                        <a:t>Why</a:t>
                      </a:r>
                      <a:endParaRPr lang="en-US" sz="1400" dirty="0">
                        <a:latin typeface="Schibsted Grotesk" charset="0"/>
                        <a:ea typeface="Schibsted Grotesk" charset="0"/>
                        <a:cs typeface="Schibsted Grotesk" charset="0"/>
                      </a:endParaRPr>
                    </a:p>
                  </a:txBody>
                  <a:tcPr marL="62230" marR="62230" marT="62230" marB="62230" anchor="t">
                    <a:lnL w="12700" cap="flat" cmpd="sng" algn="ctr">
                      <a:solidFill>
                        <a:srgbClr val="C3C4C6"/>
                      </a:solidFill>
                      <a:prstDash val="solid"/>
                      <a:round/>
                      <a:headEnd type="none" w="med" len="med"/>
                      <a:tailEnd type="none" w="med" len="med"/>
                    </a:lnL>
                    <a:lnR w="12700" cap="flat" cmpd="sng" algn="ctr">
                      <a:solidFill>
                        <a:srgbClr val="B5B5B8"/>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B5B5B8"/>
                      </a:solidFill>
                      <a:prstDash val="solid"/>
                      <a:round/>
                      <a:headEnd type="none" w="med" len="med"/>
                      <a:tailEnd type="none" w="med" len="med"/>
                    </a:lnB>
                    <a:solidFill>
                      <a:srgbClr val="E2E3E6"/>
                    </a:solidFill>
                  </a:tcPr>
                </a:tc>
                <a:tc>
                  <a:txBody>
                    <a:bodyPr/>
                    <a:lstStyle/>
                    <a:p>
                      <a:pPr indent="0" marL="0">
                        <a:lnSpc>
                          <a:spcPts val="1960"/>
                        </a:lnSpc>
                        <a:buNone/>
                      </a:pPr>
                      <a:r>
                        <a:rPr lang="en-US" sz="1400" b="1" dirty="0">
                          <a:solidFill>
                            <a:srgbClr val="172033"/>
                          </a:solidFill>
                          <a:latin typeface="Schibsted Grotesk" pitchFamily="34" charset="0"/>
                          <a:ea typeface="Schibsted Grotesk" pitchFamily="34" charset="-122"/>
                          <a:cs typeface="Schibsted Grotesk" pitchFamily="34" charset="-120"/>
                        </a:rPr>
                        <a:t>Question</a:t>
                      </a:r>
                      <a:endParaRPr lang="en-US" sz="1400" dirty="0">
                        <a:latin typeface="Schibsted Grotesk" charset="0"/>
                        <a:ea typeface="Schibsted Grotesk" charset="0"/>
                        <a:cs typeface="Schibsted Grotesk" charset="0"/>
                      </a:endParaRPr>
                    </a:p>
                  </a:txBody>
                  <a:tcPr marL="62230" marR="62230" marT="62230" marB="62230" anchor="t">
                    <a:lnL w="12700" cap="flat" cmpd="sng" algn="ctr">
                      <a:solidFill>
                        <a:srgbClr val="B5B5B8"/>
                      </a:solidFill>
                      <a:prstDash val="solid"/>
                      <a:round/>
                      <a:headEnd type="none" w="med" len="med"/>
                      <a:tailEnd type="none" w="med" len="med"/>
                    </a:lnL>
                    <a:lnR w="12700" cap="flat" cmpd="sng" algn="ctr">
                      <a:solidFill>
                        <a:srgbClr val="B5B5B8"/>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B5B5B8"/>
                      </a:solidFill>
                      <a:prstDash val="solid"/>
                      <a:round/>
                      <a:headEnd type="none" w="med" len="med"/>
                      <a:tailEnd type="none" w="med" len="med"/>
                    </a:lnB>
                    <a:solidFill>
                      <a:srgbClr val="E2E3E6"/>
                    </a:solidFill>
                  </a:tcPr>
                </a:tc>
                <a:tc>
                  <a:txBody>
                    <a:bodyPr/>
                    <a:lstStyle/>
                    <a:p>
                      <a:pPr indent="0" marL="0">
                        <a:lnSpc>
                          <a:spcPts val="1960"/>
                        </a:lnSpc>
                        <a:buNone/>
                      </a:pPr>
                      <a:r>
                        <a:rPr lang="en-US" sz="1400" b="1" dirty="0">
                          <a:solidFill>
                            <a:srgbClr val="172033"/>
                          </a:solidFill>
                          <a:latin typeface="Schibsted Grotesk" pitchFamily="34" charset="0"/>
                          <a:ea typeface="Schibsted Grotesk" pitchFamily="34" charset="-122"/>
                          <a:cs typeface="Schibsted Grotesk" pitchFamily="34" charset="-120"/>
                        </a:rPr>
                        <a:t>Answer from the evidence</a:t>
                      </a:r>
                      <a:endParaRPr lang="en-US" sz="1400" dirty="0">
                        <a:latin typeface="Schibsted Grotesk" charset="0"/>
                        <a:ea typeface="Schibsted Grotesk" charset="0"/>
                        <a:cs typeface="Schibsted Grotesk" charset="0"/>
                      </a:endParaRPr>
                    </a:p>
                  </a:txBody>
                  <a:tcPr marL="62230" marR="62230" marT="62230" marB="62230" anchor="t">
                    <a:lnL w="12700" cap="flat" cmpd="sng" algn="ctr">
                      <a:solidFill>
                        <a:srgbClr val="B5B5B8"/>
                      </a:solidFill>
                      <a:prstDash val="solid"/>
                      <a:round/>
                      <a:headEnd type="none" w="med" len="med"/>
                      <a:tailEnd type="none" w="med" len="med"/>
                    </a:lnL>
                    <a:lnR w="12700" cap="flat" cmpd="sng" algn="ctr">
                      <a:solidFill>
                        <a:srgbClr val="B5B5B8"/>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B5B5B8"/>
                      </a:solidFill>
                      <a:prstDash val="solid"/>
                      <a:round/>
                      <a:headEnd type="none" w="med" len="med"/>
                      <a:tailEnd type="none" w="med" len="med"/>
                    </a:lnB>
                    <a:solidFill>
                      <a:srgbClr val="E2E3E6"/>
                    </a:solidFill>
                  </a:tcPr>
                </a:tc>
              </a:tr>
              <a:tr h="385961">
                <a:tc>
                  <a:txBody>
                    <a:bodyPr/>
                    <a:lstStyle/>
                    <a:p>
                      <a:pPr indent="0" marL="0">
                        <a:lnSpc>
                          <a:spcPts val="1960"/>
                        </a:lnSpc>
                        <a:buNone/>
                      </a:pPr>
                      <a:r>
                        <a:rPr lang="en-US" sz="1400" dirty="0">
                          <a:solidFill>
                            <a:srgbClr val="172033"/>
                          </a:solidFill>
                          <a:latin typeface="Schibsted Grotesk" pitchFamily="34" charset="0"/>
                          <a:ea typeface="Schibsted Grotesk" pitchFamily="34" charset="-122"/>
                          <a:cs typeface="Schibsted Grotesk" pitchFamily="34" charset="-120"/>
                        </a:rPr>
                        <a:t>1</a:t>
                      </a:r>
                      <a:endParaRPr lang="en-US" sz="1400" dirty="0">
                        <a:latin typeface="Schibsted Grotesk" charset="0"/>
                        <a:ea typeface="Schibsted Grotesk" charset="0"/>
                        <a:cs typeface="Schibsted Grotesk" charset="0"/>
                      </a:endParaRPr>
                    </a:p>
                  </a:txBody>
                  <a:tcPr marL="62230" marR="62230" marT="62230" marB="62230"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B5B5B8"/>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1960"/>
                        </a:lnSpc>
                        <a:buNone/>
                      </a:pPr>
                      <a:r>
                        <a:rPr lang="en-US" sz="1400" dirty="0">
                          <a:solidFill>
                            <a:srgbClr val="172033"/>
                          </a:solidFill>
                          <a:latin typeface="Schibsted Grotesk" pitchFamily="34" charset="0"/>
                          <a:ea typeface="Schibsted Grotesk" pitchFamily="34" charset="-122"/>
                          <a:cs typeface="Schibsted Grotesk" pitchFamily="34" charset="-120"/>
                        </a:rPr>
                        <a:t>Why do clients wait weeks?</a:t>
                      </a:r>
                      <a:endParaRPr lang="en-US" sz="1400" dirty="0">
                        <a:latin typeface="Schibsted Grotesk" charset="0"/>
                        <a:ea typeface="Schibsted Grotesk" charset="0"/>
                        <a:cs typeface="Schibsted Grotesk" charset="0"/>
                      </a:endParaRPr>
                    </a:p>
                  </a:txBody>
                  <a:tcPr marL="62230" marR="62230" marT="62230" marB="62230"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B5B5B8"/>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1960"/>
                        </a:lnSpc>
                        <a:buNone/>
                      </a:pPr>
                      <a:r>
                        <a:rPr lang="en-US" sz="1400" dirty="0">
                          <a:solidFill>
                            <a:srgbClr val="172033"/>
                          </a:solidFill>
                          <a:latin typeface="Schibsted Grotesk" pitchFamily="34" charset="0"/>
                          <a:ea typeface="Schibsted Grotesk" pitchFamily="34" charset="-122"/>
                          <a:cs typeface="Schibsted Grotesk" pitchFamily="34" charset="-120"/>
                        </a:rPr>
                        <a:t>Nobody notices a reply or promise is outstanding</a:t>
                      </a:r>
                      <a:endParaRPr lang="en-US" sz="1400" dirty="0">
                        <a:latin typeface="Schibsted Grotesk" charset="0"/>
                        <a:ea typeface="Schibsted Grotesk" charset="0"/>
                        <a:cs typeface="Schibsted Grotesk" charset="0"/>
                      </a:endParaRPr>
                    </a:p>
                  </a:txBody>
                  <a:tcPr marL="62230" marR="62230" marT="62230" marB="62230"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B5B5B8"/>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r>
              <a:tr h="385961">
                <a:tc>
                  <a:txBody>
                    <a:bodyPr/>
                    <a:lstStyle/>
                    <a:p>
                      <a:pPr indent="0" marL="0">
                        <a:lnSpc>
                          <a:spcPts val="1960"/>
                        </a:lnSpc>
                        <a:buNone/>
                      </a:pPr>
                      <a:r>
                        <a:rPr lang="en-US" sz="1400" dirty="0">
                          <a:solidFill>
                            <a:srgbClr val="172033"/>
                          </a:solidFill>
                          <a:latin typeface="Schibsted Grotesk" pitchFamily="34" charset="0"/>
                          <a:ea typeface="Schibsted Grotesk" pitchFamily="34" charset="-122"/>
                          <a:cs typeface="Schibsted Grotesk" pitchFamily="34" charset="-120"/>
                        </a:rPr>
                        <a:t>2</a:t>
                      </a:r>
                      <a:endParaRPr lang="en-US" sz="1400" dirty="0">
                        <a:latin typeface="Schibsted Grotesk" charset="0"/>
                        <a:ea typeface="Schibsted Grotesk" charset="0"/>
                        <a:cs typeface="Schibsted Grotesk" charset="0"/>
                      </a:endParaRPr>
                    </a:p>
                  </a:txBody>
                  <a:tcPr marL="62230" marR="62230" marT="62230" marB="62230"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1960"/>
                        </a:lnSpc>
                        <a:buNone/>
                      </a:pPr>
                      <a:r>
                        <a:rPr lang="en-US" sz="1400" dirty="0">
                          <a:solidFill>
                            <a:srgbClr val="172033"/>
                          </a:solidFill>
                          <a:latin typeface="Schibsted Grotesk" pitchFamily="34" charset="0"/>
                          <a:ea typeface="Schibsted Grotesk" pitchFamily="34" charset="-122"/>
                          <a:cs typeface="Schibsted Grotesk" pitchFamily="34" charset="-120"/>
                        </a:rPr>
                        <a:t>Why does nobody notice?</a:t>
                      </a:r>
                      <a:endParaRPr lang="en-US" sz="1400" dirty="0">
                        <a:latin typeface="Schibsted Grotesk" charset="0"/>
                        <a:ea typeface="Schibsted Grotesk" charset="0"/>
                        <a:cs typeface="Schibsted Grotesk" charset="0"/>
                      </a:endParaRPr>
                    </a:p>
                  </a:txBody>
                  <a:tcPr marL="62230" marR="62230" marT="62230" marB="62230"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1960"/>
                        </a:lnSpc>
                        <a:buNone/>
                      </a:pPr>
                      <a:r>
                        <a:rPr lang="en-US" sz="1400" dirty="0">
                          <a:solidFill>
                            <a:srgbClr val="172033"/>
                          </a:solidFill>
                          <a:latin typeface="Schibsted Grotesk" pitchFamily="34" charset="0"/>
                          <a:ea typeface="Schibsted Grotesk" pitchFamily="34" charset="-122"/>
                          <a:cs typeface="Schibsted Grotesk" pitchFamily="34" charset="-120"/>
                        </a:rPr>
                        <a:t>The CRM is stale: 0/40 follow-up dates, wrong stages</a:t>
                      </a:r>
                      <a:endParaRPr lang="en-US" sz="1400" dirty="0">
                        <a:latin typeface="Schibsted Grotesk" charset="0"/>
                        <a:ea typeface="Schibsted Grotesk" charset="0"/>
                        <a:cs typeface="Schibsted Grotesk" charset="0"/>
                      </a:endParaRPr>
                    </a:p>
                  </a:txBody>
                  <a:tcPr marL="62230" marR="62230" marT="62230" marB="62230"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r>
              <a:tr h="385961">
                <a:tc>
                  <a:txBody>
                    <a:bodyPr/>
                    <a:lstStyle/>
                    <a:p>
                      <a:pPr indent="0" marL="0">
                        <a:lnSpc>
                          <a:spcPts val="1960"/>
                        </a:lnSpc>
                        <a:buNone/>
                      </a:pPr>
                      <a:r>
                        <a:rPr lang="en-US" sz="1400" dirty="0">
                          <a:solidFill>
                            <a:srgbClr val="172033"/>
                          </a:solidFill>
                          <a:latin typeface="Schibsted Grotesk" pitchFamily="34" charset="0"/>
                          <a:ea typeface="Schibsted Grotesk" pitchFamily="34" charset="-122"/>
                          <a:cs typeface="Schibsted Grotesk" pitchFamily="34" charset="-120"/>
                        </a:rPr>
                        <a:t>3</a:t>
                      </a:r>
                      <a:endParaRPr lang="en-US" sz="1400" dirty="0">
                        <a:latin typeface="Schibsted Grotesk" charset="0"/>
                        <a:ea typeface="Schibsted Grotesk" charset="0"/>
                        <a:cs typeface="Schibsted Grotesk" charset="0"/>
                      </a:endParaRPr>
                    </a:p>
                  </a:txBody>
                  <a:tcPr marL="62230" marR="62230" marT="62230" marB="62230"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1960"/>
                        </a:lnSpc>
                        <a:buNone/>
                      </a:pPr>
                      <a:r>
                        <a:rPr lang="en-US" sz="1400" dirty="0">
                          <a:solidFill>
                            <a:srgbClr val="172033"/>
                          </a:solidFill>
                          <a:latin typeface="Schibsted Grotesk" pitchFamily="34" charset="0"/>
                          <a:ea typeface="Schibsted Grotesk" pitchFamily="34" charset="-122"/>
                          <a:cs typeface="Schibsted Grotesk" pitchFamily="34" charset="-120"/>
                        </a:rPr>
                        <a:t>Why is the CRM stale?</a:t>
                      </a:r>
                      <a:endParaRPr lang="en-US" sz="1400" dirty="0">
                        <a:latin typeface="Schibsted Grotesk" charset="0"/>
                        <a:ea typeface="Schibsted Grotesk" charset="0"/>
                        <a:cs typeface="Schibsted Grotesk" charset="0"/>
                      </a:endParaRPr>
                    </a:p>
                  </a:txBody>
                  <a:tcPr marL="62230" marR="62230" marT="62230" marB="62230"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1960"/>
                        </a:lnSpc>
                        <a:buNone/>
                      </a:pPr>
                      <a:r>
                        <a:rPr lang="en-US" sz="1400" dirty="0">
                          <a:solidFill>
                            <a:srgbClr val="172033"/>
                          </a:solidFill>
                          <a:latin typeface="Schibsted Grotesk" pitchFamily="34" charset="0"/>
                          <a:ea typeface="Schibsted Grotesk" pitchFamily="34" charset="-122"/>
                          <a:cs typeface="Schibsted Grotesk" pitchFamily="34" charset="-120"/>
                        </a:rPr>
                        <a:t>Logging is a separate laptop task; selling happens on phones</a:t>
                      </a:r>
                      <a:endParaRPr lang="en-US" sz="1400" dirty="0">
                        <a:latin typeface="Schibsted Grotesk" charset="0"/>
                        <a:ea typeface="Schibsted Grotesk" charset="0"/>
                        <a:cs typeface="Schibsted Grotesk" charset="0"/>
                      </a:endParaRPr>
                    </a:p>
                  </a:txBody>
                  <a:tcPr marL="62230" marR="62230" marT="62230" marB="62230"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r>
              <a:tr h="385961">
                <a:tc>
                  <a:txBody>
                    <a:bodyPr/>
                    <a:lstStyle/>
                    <a:p>
                      <a:pPr indent="0" marL="0">
                        <a:lnSpc>
                          <a:spcPts val="1960"/>
                        </a:lnSpc>
                        <a:buNone/>
                      </a:pPr>
                      <a:r>
                        <a:rPr lang="en-US" sz="1400" dirty="0">
                          <a:solidFill>
                            <a:srgbClr val="172033"/>
                          </a:solidFill>
                          <a:latin typeface="Schibsted Grotesk" pitchFamily="34" charset="0"/>
                          <a:ea typeface="Schibsted Grotesk" pitchFamily="34" charset="-122"/>
                          <a:cs typeface="Schibsted Grotesk" pitchFamily="34" charset="-120"/>
                        </a:rPr>
                        <a:t>4</a:t>
                      </a:r>
                      <a:endParaRPr lang="en-US" sz="1400" dirty="0">
                        <a:latin typeface="Schibsted Grotesk" charset="0"/>
                        <a:ea typeface="Schibsted Grotesk" charset="0"/>
                        <a:cs typeface="Schibsted Grotesk" charset="0"/>
                      </a:endParaRPr>
                    </a:p>
                  </a:txBody>
                  <a:tcPr marL="62230" marR="62230" marT="62230" marB="62230"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1960"/>
                        </a:lnSpc>
                        <a:buNone/>
                      </a:pPr>
                      <a:r>
                        <a:rPr lang="en-US" sz="1400" dirty="0">
                          <a:solidFill>
                            <a:srgbClr val="172033"/>
                          </a:solidFill>
                          <a:latin typeface="Schibsted Grotesk" pitchFamily="34" charset="0"/>
                          <a:ea typeface="Schibsted Grotesk" pitchFamily="34" charset="-122"/>
                          <a:cs typeface="Schibsted Grotesk" pitchFamily="34" charset="-120"/>
                        </a:rPr>
                        <a:t>Why not just do it? (agreed in April and July)</a:t>
                      </a:r>
                      <a:endParaRPr lang="en-US" sz="1400" dirty="0">
                        <a:latin typeface="Schibsted Grotesk" charset="0"/>
                        <a:ea typeface="Schibsted Grotesk" charset="0"/>
                        <a:cs typeface="Schibsted Grotesk" charset="0"/>
                      </a:endParaRPr>
                    </a:p>
                  </a:txBody>
                  <a:tcPr marL="62230" marR="62230" marT="62230" marB="62230"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1960"/>
                        </a:lnSpc>
                        <a:buNone/>
                      </a:pPr>
                      <a:r>
                        <a:rPr lang="en-US" sz="1400" dirty="0">
                          <a:solidFill>
                            <a:srgbClr val="172033"/>
                          </a:solidFill>
                          <a:latin typeface="Schibsted Grotesk" pitchFamily="34" charset="0"/>
                          <a:ea typeface="Schibsted Grotesk" pitchFamily="34" charset="-122"/>
                          <a:cs typeface="Schibsted Grotesk" pitchFamily="34" charset="-120"/>
                        </a:rPr>
                        <a:t>Sellers also run the company; context fades in hours</a:t>
                      </a:r>
                      <a:endParaRPr lang="en-US" sz="1400" dirty="0">
                        <a:latin typeface="Schibsted Grotesk" charset="0"/>
                        <a:ea typeface="Schibsted Grotesk" charset="0"/>
                        <a:cs typeface="Schibsted Grotesk" charset="0"/>
                      </a:endParaRPr>
                    </a:p>
                  </a:txBody>
                  <a:tcPr marL="62230" marR="62230" marT="62230" marB="62230"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r>
              <a:tr h="634868">
                <a:tc>
                  <a:txBody>
                    <a:bodyPr/>
                    <a:lstStyle/>
                    <a:p>
                      <a:pPr indent="0" marL="0">
                        <a:lnSpc>
                          <a:spcPts val="1960"/>
                        </a:lnSpc>
                        <a:buNone/>
                      </a:pPr>
                      <a:r>
                        <a:rPr lang="en-US" sz="1400" dirty="0">
                          <a:solidFill>
                            <a:srgbClr val="172033"/>
                          </a:solidFill>
                          <a:latin typeface="Schibsted Grotesk" pitchFamily="34" charset="0"/>
                          <a:ea typeface="Schibsted Grotesk" pitchFamily="34" charset="-122"/>
                          <a:cs typeface="Schibsted Grotesk" pitchFamily="34" charset="-120"/>
                        </a:rPr>
                        <a:t>5</a:t>
                      </a:r>
                      <a:endParaRPr lang="en-US" sz="1400" dirty="0">
                        <a:latin typeface="Schibsted Grotesk" charset="0"/>
                        <a:ea typeface="Schibsted Grotesk" charset="0"/>
                        <a:cs typeface="Schibsted Grotesk" charset="0"/>
                      </a:endParaRPr>
                    </a:p>
                  </a:txBody>
                  <a:tcPr marL="62230" marR="62230" marT="62230" marB="62230" anchor="t">
                    <a:lnL w="12700" cap="flat" cmpd="sng" algn="ctr">
                      <a:solidFill>
                        <a:srgbClr val="C3C4C6"/>
                      </a:solidFill>
                      <a:prstDash val="solid"/>
                      <a:round/>
                      <a:headEnd type="none" w="med" len="med"/>
                      <a:tailEnd type="none" w="med" len="med"/>
                    </a:lnL>
                    <a:lnR w="12700" cap="flat" cmpd="sng" algn="ctr">
                      <a:solidFill>
                        <a:srgbClr val="CABCBB"/>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ABCBB"/>
                      </a:solidFill>
                      <a:prstDash val="solid"/>
                      <a:round/>
                      <a:headEnd type="none" w="med" len="med"/>
                      <a:tailEnd type="none" w="med" len="med"/>
                    </a:lnB>
                    <a:solidFill>
                      <a:srgbClr val="FDECEA"/>
                    </a:solidFill>
                  </a:tcPr>
                </a:tc>
                <a:tc>
                  <a:txBody>
                    <a:bodyPr/>
                    <a:lstStyle/>
                    <a:p>
                      <a:pPr indent="0" marL="0">
                        <a:lnSpc>
                          <a:spcPts val="1960"/>
                        </a:lnSpc>
                        <a:buNone/>
                      </a:pPr>
                      <a:r>
                        <a:rPr lang="en-US" sz="1400" dirty="0">
                          <a:solidFill>
                            <a:srgbClr val="172033"/>
                          </a:solidFill>
                          <a:latin typeface="Schibsted Grotesk" pitchFamily="34" charset="0"/>
                          <a:ea typeface="Schibsted Grotesk" pitchFamily="34" charset="-122"/>
                          <a:cs typeface="Schibsted Grotesk" pitchFamily="34" charset="-120"/>
                        </a:rPr>
                        <a:t>Why does that break everything?</a:t>
                      </a:r>
                      <a:endParaRPr lang="en-US" sz="1400" dirty="0">
                        <a:latin typeface="Schibsted Grotesk" charset="0"/>
                        <a:ea typeface="Schibsted Grotesk" charset="0"/>
                        <a:cs typeface="Schibsted Grotesk" charset="0"/>
                      </a:endParaRPr>
                    </a:p>
                  </a:txBody>
                  <a:tcPr marL="62230" marR="62230" marT="62230" marB="62230" anchor="t">
                    <a:lnL w="12700" cap="flat" cmpd="sng" algn="ctr">
                      <a:solidFill>
                        <a:srgbClr val="CABCBB"/>
                      </a:solidFill>
                      <a:prstDash val="solid"/>
                      <a:round/>
                      <a:headEnd type="none" w="med" len="med"/>
                      <a:tailEnd type="none" w="med" len="med"/>
                    </a:lnL>
                    <a:lnR w="12700" cap="flat" cmpd="sng" algn="ctr">
                      <a:solidFill>
                        <a:srgbClr val="CABCBB"/>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ABCBB"/>
                      </a:solidFill>
                      <a:prstDash val="solid"/>
                      <a:round/>
                      <a:headEnd type="none" w="med" len="med"/>
                      <a:tailEnd type="none" w="med" len="med"/>
                    </a:lnB>
                    <a:solidFill>
                      <a:srgbClr val="FDECEA"/>
                    </a:solidFill>
                  </a:tcPr>
                </a:tc>
                <a:tc>
                  <a:txBody>
                    <a:bodyPr/>
                    <a:lstStyle/>
                    <a:p>
                      <a:pPr indent="0" marL="0">
                        <a:lnSpc>
                          <a:spcPts val="1960"/>
                        </a:lnSpc>
                        <a:buNone/>
                      </a:pPr>
                      <a:r>
                        <a:rPr lang="en-US" sz="1400" dirty="0">
                          <a:solidFill>
                            <a:srgbClr val="172033"/>
                          </a:solidFill>
                          <a:latin typeface="Schibsted Grotesk" pitchFamily="34" charset="0"/>
                          <a:ea typeface="Schibsted Grotesk" pitchFamily="34" charset="-122"/>
                          <a:cs typeface="Schibsted Grotesk" pitchFamily="34" charset="-120"/>
                        </a:rPr>
                        <a:t>Capture and recall both depend on the busiest people's memory</a:t>
                      </a:r>
                      <a:endParaRPr lang="en-US" sz="1400" dirty="0">
                        <a:latin typeface="Schibsted Grotesk" charset="0"/>
                        <a:ea typeface="Schibsted Grotesk" charset="0"/>
                        <a:cs typeface="Schibsted Grotesk" charset="0"/>
                      </a:endParaRPr>
                    </a:p>
                  </a:txBody>
                  <a:tcPr marL="62230" marR="62230" marT="62230" marB="62230" anchor="t">
                    <a:lnL w="12700" cap="flat" cmpd="sng" algn="ctr">
                      <a:solidFill>
                        <a:srgbClr val="CABCBB"/>
                      </a:solidFill>
                      <a:prstDash val="solid"/>
                      <a:round/>
                      <a:headEnd type="none" w="med" len="med"/>
                      <a:tailEnd type="none" w="med" len="med"/>
                    </a:lnL>
                    <a:lnR w="12700" cap="flat" cmpd="sng" algn="ctr">
                      <a:solidFill>
                        <a:srgbClr val="CABCBB"/>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ABCBB"/>
                      </a:solidFill>
                      <a:prstDash val="solid"/>
                      <a:round/>
                      <a:headEnd type="none" w="med" len="med"/>
                      <a:tailEnd type="none" w="med" len="med"/>
                    </a:lnB>
                    <a:solidFill>
                      <a:srgbClr val="FDECEA"/>
                    </a:solidFill>
                  </a:tcPr>
                </a:tc>
              </a:tr>
            </a:tbl>
          </a:graphicData>
        </a:graphic>
      </p:graphicFrame>
      <p:sp>
        <p:nvSpPr>
          <p:cNvPr id="4" name="Text 1"/>
          <p:cNvSpPr/>
          <p:nvPr/>
        </p:nvSpPr>
        <p:spPr>
          <a:xfrm>
            <a:off x="10693400" y="6238280"/>
            <a:ext cx="685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487"/>
                </a:solidFill>
                <a:latin typeface="Schibsted Grotesk" pitchFamily="34" charset="0"/>
                <a:ea typeface="Schibsted Grotesk" pitchFamily="34" charset="-122"/>
                <a:cs typeface="Schibsted Grotesk" pitchFamily="34" charset="-120"/>
              </a:rPr>
              <a:t>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2F4BA8"/>
        </a:solidFill>
      </p:bgPr>
    </p:bg>
    <p:spTree>
      <p:nvGrpSpPr>
        <p:cNvPr id="1" name=""/>
        <p:cNvGrpSpPr/>
        <p:nvPr/>
      </p:nvGrpSpPr>
      <p:grpSpPr>
        <a:xfrm>
          <a:off x="0" y="0"/>
          <a:ext cx="0" cy="0"/>
          <a:chOff x="0" y="0"/>
          <a:chExt cx="0" cy="0"/>
        </a:xfrm>
      </p:grpSpPr>
      <p:sp>
        <p:nvSpPr>
          <p:cNvPr id="2" name="Text 0"/>
          <p:cNvSpPr/>
          <p:nvPr/>
        </p:nvSpPr>
        <p:spPr>
          <a:xfrm>
            <a:off x="812800" y="1281643"/>
            <a:ext cx="10883392" cy="309827"/>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D6DEF5"/>
                </a:solidFill>
                <a:latin typeface="Schibsted Grotesk" pitchFamily="34" charset="0"/>
                <a:ea typeface="Schibsted Grotesk" pitchFamily="34" charset="-122"/>
                <a:cs typeface="Schibsted Grotesk" pitchFamily="34" charset="-120"/>
              </a:rPr>
              <a:t>The problem worth solving</a:t>
            </a:r>
            <a:endParaRPr lang="en-US" sz="1600" dirty="0"/>
          </a:p>
        </p:txBody>
      </p:sp>
      <p:sp>
        <p:nvSpPr>
          <p:cNvPr id="3" name="Text 1"/>
          <p:cNvSpPr/>
          <p:nvPr>
            <p:ph type="title"/>
          </p:nvPr>
        </p:nvSpPr>
        <p:spPr>
          <a:xfrm>
            <a:off x="812800" y="1870869"/>
            <a:ext cx="10464800" cy="2654035"/>
          </a:xfrm>
          <a:prstGeom prst="rect">
            <a:avLst/>
          </a:prstGeom>
          <a:noFill/>
          <a:ln/>
        </p:spPr>
        <p:txBody>
          <a:bodyPr wrap="square" lIns="0" tIns="0" rIns="0" bIns="0" rtlCol="0" anchor="t">
            <a:normAutofit/>
          </a:bodyPr>
          <a:lstStyle/>
          <a:p>
            <a:pPr algn="l" indent="0" marL="0">
              <a:lnSpc>
                <a:spcPts val="4140"/>
              </a:lnSpc>
              <a:buNone/>
            </a:pPr>
            <a:r>
              <a:rPr lang="en-US" sz="3600" b="1" i="0" dirty="0">
                <a:solidFill>
                  <a:srgbClr val="F4F5F8"/>
                </a:solidFill>
                <a:latin typeface="Schibsted Grotesk" pitchFamily="34" charset="0"/>
                <a:ea typeface="Schibsted Grotesk" pitchFamily="34" charset="-122"/>
                <a:cs typeface="Schibsted Grotesk" pitchFamily="34" charset="-120"/>
              </a:rPr>
              <a:t>The founders have no automatic way to capture what clients ask and what they promise, across the channels they actually sell on. So nobody can see who is waiting on AtliQ, or by when.</a:t>
            </a:r>
            <a:endParaRPr lang="en-US" sz="3600" dirty="0"/>
          </a:p>
        </p:txBody>
      </p:sp>
      <p:sp>
        <p:nvSpPr>
          <p:cNvPr id="4" name="Text 2"/>
          <p:cNvSpPr/>
          <p:nvPr/>
        </p:nvSpPr>
        <p:spPr>
          <a:xfrm>
            <a:off x="812800" y="4804305"/>
            <a:ext cx="9810750" cy="594254"/>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D6DEF5"/>
                </a:solidFill>
                <a:latin typeface="Schibsted Grotesk" pitchFamily="34" charset="0"/>
                <a:ea typeface="Schibsted Grotesk" pitchFamily="34" charset="-122"/>
                <a:cs typeface="Schibsted Grotesk" pitchFamily="34" charset="-120"/>
              </a:rPr>
              <a:t>Revenue leaks through unanswered replies, broken promises, missed revisits and unnoticed cross-sells. Not a lead problem. Not a CRM-tool problem.</a:t>
            </a:r>
            <a:endParaRPr lang="en-US" sz="1600" dirty="0"/>
          </a:p>
        </p:txBody>
      </p:sp>
      <p:sp>
        <p:nvSpPr>
          <p:cNvPr id="5" name="Text 3"/>
          <p:cNvSpPr/>
          <p:nvPr/>
        </p:nvSpPr>
        <p:spPr>
          <a:xfrm>
            <a:off x="10693400" y="6238280"/>
            <a:ext cx="685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D6DEF5"/>
                </a:solidFill>
                <a:latin typeface="Schibsted Grotesk" pitchFamily="34" charset="0"/>
                <a:ea typeface="Schibsted Grotesk" pitchFamily="34" charset="-122"/>
                <a:cs typeface="Schibsted Grotesk" pitchFamily="34" charset="-120"/>
              </a:rPr>
              <a:t>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5F8"/>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72033"/>
                </a:solidFill>
                <a:latin typeface="Schibsted Grotesk" pitchFamily="34" charset="0"/>
                <a:ea typeface="Schibsted Grotesk" pitchFamily="34" charset="-122"/>
                <a:cs typeface="Schibsted Grotesk" pitchFamily="34" charset="-120"/>
              </a:rPr>
              <a:t>Mapping the sales workflow: where it breaks</a:t>
            </a:r>
            <a:endParaRPr lang="en-US" sz="3200" dirty="0"/>
          </a:p>
        </p:txBody>
      </p:sp>
      <p:sp>
        <p:nvSpPr>
          <p:cNvPr id="3" name="Shape 1"/>
          <p:cNvSpPr/>
          <p:nvPr/>
        </p:nvSpPr>
        <p:spPr>
          <a:xfrm>
            <a:off x="815975" y="1516990"/>
            <a:ext cx="3431117" cy="999397"/>
          </a:xfrm>
          <a:prstGeom prst="roundRect">
            <a:avLst>
              <a:gd name="adj" fmla="val 7307"/>
            </a:avLst>
          </a:prstGeom>
          <a:solidFill>
            <a:srgbClr val="FBFBFC"/>
          </a:solidFill>
          <a:ln w="6350">
            <a:solidFill>
              <a:srgbClr val="DCE1E8"/>
            </a:solidFill>
            <a:prstDash val="solid"/>
          </a:ln>
        </p:spPr>
      </p:sp>
      <p:sp>
        <p:nvSpPr>
          <p:cNvPr id="4" name="Text 2"/>
          <p:cNvSpPr/>
          <p:nvPr/>
        </p:nvSpPr>
        <p:spPr>
          <a:xfrm>
            <a:off x="969433" y="1670447"/>
            <a:ext cx="321792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487"/>
                </a:solidFill>
                <a:latin typeface="Schibsted Grotesk" pitchFamily="34" charset="0"/>
                <a:ea typeface="Schibsted Grotesk" pitchFamily="34" charset="-122"/>
                <a:cs typeface="Schibsted Grotesk" pitchFamily="34" charset="-120"/>
              </a:rPr>
              <a:t>Step 1</a:t>
            </a:r>
            <a:endParaRPr lang="en-US" sz="1200" dirty="0"/>
          </a:p>
        </p:txBody>
      </p:sp>
      <p:sp>
        <p:nvSpPr>
          <p:cNvPr id="5" name="Text 3"/>
          <p:cNvSpPr/>
          <p:nvPr/>
        </p:nvSpPr>
        <p:spPr>
          <a:xfrm>
            <a:off x="969433" y="1883767"/>
            <a:ext cx="3217926" cy="27430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72033"/>
                </a:solidFill>
                <a:latin typeface="Schibsted Grotesk" pitchFamily="34" charset="0"/>
                <a:ea typeface="Schibsted Grotesk" pitchFamily="34" charset="-122"/>
                <a:cs typeface="Schibsted Grotesk" pitchFamily="34" charset="-120"/>
              </a:rPr>
              <a:t>Lead arrives</a:t>
            </a:r>
            <a:endParaRPr lang="en-US" sz="1400" dirty="0"/>
          </a:p>
        </p:txBody>
      </p:sp>
      <p:sp>
        <p:nvSpPr>
          <p:cNvPr id="6" name="Text 4"/>
          <p:cNvSpPr/>
          <p:nvPr/>
        </p:nvSpPr>
        <p:spPr>
          <a:xfrm>
            <a:off x="969433" y="2132676"/>
            <a:ext cx="321792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Schibsted Grotesk" pitchFamily="34" charset="0"/>
                <a:ea typeface="Schibsted Grotesk" pitchFamily="34" charset="-122"/>
                <a:cs typeface="Schibsted Grotesk" pitchFamily="34" charset="-120"/>
              </a:rPr>
              <a:t>4 of ~15 TechSummit cards logged</a:t>
            </a:r>
            <a:endParaRPr lang="en-US" sz="1200" dirty="0"/>
          </a:p>
        </p:txBody>
      </p:sp>
      <p:sp>
        <p:nvSpPr>
          <p:cNvPr id="7" name="Shape 5"/>
          <p:cNvSpPr/>
          <p:nvPr/>
        </p:nvSpPr>
        <p:spPr>
          <a:xfrm>
            <a:off x="4380442" y="1516990"/>
            <a:ext cx="3431117" cy="999397"/>
          </a:xfrm>
          <a:prstGeom prst="roundRect">
            <a:avLst>
              <a:gd name="adj" fmla="val 7307"/>
            </a:avLst>
          </a:prstGeom>
          <a:solidFill>
            <a:srgbClr val="FBFBFC"/>
          </a:solidFill>
          <a:ln w="6350">
            <a:solidFill>
              <a:srgbClr val="DCE1E8"/>
            </a:solidFill>
            <a:prstDash val="solid"/>
          </a:ln>
        </p:spPr>
      </p:sp>
      <p:sp>
        <p:nvSpPr>
          <p:cNvPr id="8" name="Text 6"/>
          <p:cNvSpPr/>
          <p:nvPr/>
        </p:nvSpPr>
        <p:spPr>
          <a:xfrm>
            <a:off x="4533900" y="1670447"/>
            <a:ext cx="321792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487"/>
                </a:solidFill>
                <a:latin typeface="Schibsted Grotesk" pitchFamily="34" charset="0"/>
                <a:ea typeface="Schibsted Grotesk" pitchFamily="34" charset="-122"/>
                <a:cs typeface="Schibsted Grotesk" pitchFamily="34" charset="-120"/>
              </a:rPr>
              <a:t>Step 2</a:t>
            </a:r>
            <a:endParaRPr lang="en-US" sz="1200" dirty="0"/>
          </a:p>
        </p:txBody>
      </p:sp>
      <p:sp>
        <p:nvSpPr>
          <p:cNvPr id="9" name="Text 7"/>
          <p:cNvSpPr/>
          <p:nvPr/>
        </p:nvSpPr>
        <p:spPr>
          <a:xfrm>
            <a:off x="4533900" y="1883767"/>
            <a:ext cx="3217926" cy="27430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72033"/>
                </a:solidFill>
                <a:latin typeface="Schibsted Grotesk" pitchFamily="34" charset="0"/>
                <a:ea typeface="Schibsted Grotesk" pitchFamily="34" charset="-122"/>
                <a:cs typeface="Schibsted Grotesk" pitchFamily="34" charset="-120"/>
              </a:rPr>
              <a:t>First conversation</a:t>
            </a:r>
            <a:endParaRPr lang="en-US" sz="1400" dirty="0"/>
          </a:p>
        </p:txBody>
      </p:sp>
      <p:sp>
        <p:nvSpPr>
          <p:cNvPr id="10" name="Text 8"/>
          <p:cNvSpPr/>
          <p:nvPr/>
        </p:nvSpPr>
        <p:spPr>
          <a:xfrm>
            <a:off x="4533900" y="2132676"/>
            <a:ext cx="321792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Schibsted Grotesk" pitchFamily="34" charset="0"/>
                <a:ea typeface="Schibsted Grotesk" pitchFamily="34" charset="-122"/>
                <a:cs typeface="Schibsted Grotesk" pitchFamily="34" charset="-120"/>
              </a:rPr>
              <a:t>Notes stay in the seller's head</a:t>
            </a:r>
            <a:endParaRPr lang="en-US" sz="1200" dirty="0"/>
          </a:p>
        </p:txBody>
      </p:sp>
      <p:sp>
        <p:nvSpPr>
          <p:cNvPr id="11" name="Shape 9"/>
          <p:cNvSpPr/>
          <p:nvPr/>
        </p:nvSpPr>
        <p:spPr>
          <a:xfrm>
            <a:off x="7948084" y="1520165"/>
            <a:ext cx="3424767" cy="993047"/>
          </a:xfrm>
          <a:prstGeom prst="roundRect">
            <a:avLst>
              <a:gd name="adj" fmla="val 7034"/>
            </a:avLst>
          </a:prstGeom>
          <a:solidFill>
            <a:srgbClr val="FDECEA"/>
          </a:solidFill>
          <a:ln w="12700">
            <a:solidFill>
              <a:srgbClr val="B42318"/>
            </a:solidFill>
            <a:prstDash val="solid"/>
          </a:ln>
        </p:spPr>
      </p:sp>
      <p:sp>
        <p:nvSpPr>
          <p:cNvPr id="12" name="Text 10"/>
          <p:cNvSpPr/>
          <p:nvPr/>
        </p:nvSpPr>
        <p:spPr>
          <a:xfrm>
            <a:off x="8106834" y="1678915"/>
            <a:ext cx="3200485"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42318"/>
                </a:solidFill>
                <a:latin typeface="Schibsted Grotesk" pitchFamily="34" charset="0"/>
                <a:ea typeface="Schibsted Grotesk" pitchFamily="34" charset="-122"/>
                <a:cs typeface="Schibsted Grotesk" pitchFamily="34" charset="-120"/>
              </a:rPr>
              <a:t>Step 3, most painful</a:t>
            </a:r>
            <a:endParaRPr lang="en-US" sz="1200" dirty="0"/>
          </a:p>
        </p:txBody>
      </p:sp>
      <p:sp>
        <p:nvSpPr>
          <p:cNvPr id="13" name="Text 11"/>
          <p:cNvSpPr/>
          <p:nvPr/>
        </p:nvSpPr>
        <p:spPr>
          <a:xfrm>
            <a:off x="8106834" y="1892235"/>
            <a:ext cx="3200485" cy="27430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72033"/>
                </a:solidFill>
                <a:latin typeface="Schibsted Grotesk" pitchFamily="34" charset="0"/>
                <a:ea typeface="Schibsted Grotesk" pitchFamily="34" charset="-122"/>
                <a:cs typeface="Schibsted Grotesk" pitchFamily="34" charset="-120"/>
              </a:rPr>
              <a:t>Log in CRM</a:t>
            </a:r>
            <a:endParaRPr lang="en-US" sz="1400" dirty="0"/>
          </a:p>
        </p:txBody>
      </p:sp>
      <p:sp>
        <p:nvSpPr>
          <p:cNvPr id="14" name="Text 12"/>
          <p:cNvSpPr/>
          <p:nvPr/>
        </p:nvSpPr>
        <p:spPr>
          <a:xfrm>
            <a:off x="8106834" y="2141141"/>
            <a:ext cx="320048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Schibsted Grotesk" pitchFamily="34" charset="0"/>
                <a:ea typeface="Schibsted Grotesk" pitchFamily="34" charset="-122"/>
                <a:cs typeface="Schibsted Grotesk" pitchFamily="34" charset="-120"/>
              </a:rPr>
              <a:t>Skipped; Meridian entered twice</a:t>
            </a:r>
            <a:endParaRPr lang="en-US" sz="1200" dirty="0"/>
          </a:p>
        </p:txBody>
      </p:sp>
      <p:sp>
        <p:nvSpPr>
          <p:cNvPr id="15" name="Shape 13"/>
          <p:cNvSpPr/>
          <p:nvPr/>
        </p:nvSpPr>
        <p:spPr>
          <a:xfrm>
            <a:off x="819150" y="2652911"/>
            <a:ext cx="3424767" cy="993047"/>
          </a:xfrm>
          <a:prstGeom prst="roundRect">
            <a:avLst>
              <a:gd name="adj" fmla="val 7034"/>
            </a:avLst>
          </a:prstGeom>
          <a:solidFill>
            <a:srgbClr val="FDECEA"/>
          </a:solidFill>
          <a:ln w="12700">
            <a:solidFill>
              <a:srgbClr val="B42318"/>
            </a:solidFill>
            <a:prstDash val="solid"/>
          </a:ln>
        </p:spPr>
      </p:sp>
      <p:sp>
        <p:nvSpPr>
          <p:cNvPr id="16" name="Text 14"/>
          <p:cNvSpPr/>
          <p:nvPr/>
        </p:nvSpPr>
        <p:spPr>
          <a:xfrm>
            <a:off x="977900" y="2811661"/>
            <a:ext cx="3200485"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42318"/>
                </a:solidFill>
                <a:latin typeface="Schibsted Grotesk" pitchFamily="34" charset="0"/>
                <a:ea typeface="Schibsted Grotesk" pitchFamily="34" charset="-122"/>
                <a:cs typeface="Schibsted Grotesk" pitchFamily="34" charset="-120"/>
              </a:rPr>
              <a:t>Step 4, most painful</a:t>
            </a:r>
            <a:endParaRPr lang="en-US" sz="1200" dirty="0"/>
          </a:p>
        </p:txBody>
      </p:sp>
      <p:sp>
        <p:nvSpPr>
          <p:cNvPr id="17" name="Text 15"/>
          <p:cNvSpPr/>
          <p:nvPr/>
        </p:nvSpPr>
        <p:spPr>
          <a:xfrm>
            <a:off x="977900" y="3024981"/>
            <a:ext cx="3200485" cy="27430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72033"/>
                </a:solidFill>
                <a:latin typeface="Schibsted Grotesk" pitchFamily="34" charset="0"/>
                <a:ea typeface="Schibsted Grotesk" pitchFamily="34" charset="-122"/>
                <a:cs typeface="Schibsted Grotesk" pitchFamily="34" charset="-120"/>
              </a:rPr>
              <a:t>Follow up, answer asks</a:t>
            </a:r>
            <a:endParaRPr lang="en-US" sz="1400" dirty="0"/>
          </a:p>
        </p:txBody>
      </p:sp>
      <p:sp>
        <p:nvSpPr>
          <p:cNvPr id="18" name="Text 16"/>
          <p:cNvSpPr/>
          <p:nvPr/>
        </p:nvSpPr>
        <p:spPr>
          <a:xfrm>
            <a:off x="977900" y="3273890"/>
            <a:ext cx="320048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Schibsted Grotesk" pitchFamily="34" charset="0"/>
                <a:ea typeface="Schibsted Grotesk" pitchFamily="34" charset="-122"/>
                <a:cs typeface="Schibsted Grotesk" pitchFamily="34" charset="-120"/>
              </a:rPr>
              <a:t>33 accounts waiting on us</a:t>
            </a:r>
            <a:endParaRPr lang="en-US" sz="1200" dirty="0"/>
          </a:p>
        </p:txBody>
      </p:sp>
      <p:sp>
        <p:nvSpPr>
          <p:cNvPr id="19" name="Shape 17"/>
          <p:cNvSpPr/>
          <p:nvPr/>
        </p:nvSpPr>
        <p:spPr>
          <a:xfrm>
            <a:off x="4380442" y="2649736"/>
            <a:ext cx="3431117" cy="999397"/>
          </a:xfrm>
          <a:prstGeom prst="roundRect">
            <a:avLst>
              <a:gd name="adj" fmla="val 7307"/>
            </a:avLst>
          </a:prstGeom>
          <a:solidFill>
            <a:srgbClr val="FBFBFC"/>
          </a:solidFill>
          <a:ln w="6350">
            <a:solidFill>
              <a:srgbClr val="DCE1E8"/>
            </a:solidFill>
            <a:prstDash val="solid"/>
          </a:ln>
        </p:spPr>
      </p:sp>
      <p:sp>
        <p:nvSpPr>
          <p:cNvPr id="20" name="Text 18"/>
          <p:cNvSpPr/>
          <p:nvPr/>
        </p:nvSpPr>
        <p:spPr>
          <a:xfrm>
            <a:off x="4533900" y="2803196"/>
            <a:ext cx="321792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487"/>
                </a:solidFill>
                <a:latin typeface="Schibsted Grotesk" pitchFamily="34" charset="0"/>
                <a:ea typeface="Schibsted Grotesk" pitchFamily="34" charset="-122"/>
                <a:cs typeface="Schibsted Grotesk" pitchFamily="34" charset="-120"/>
              </a:rPr>
              <a:t>Step 5</a:t>
            </a:r>
            <a:endParaRPr lang="en-US" sz="1200" dirty="0"/>
          </a:p>
        </p:txBody>
      </p:sp>
      <p:sp>
        <p:nvSpPr>
          <p:cNvPr id="21" name="Text 19"/>
          <p:cNvSpPr/>
          <p:nvPr/>
        </p:nvSpPr>
        <p:spPr>
          <a:xfrm>
            <a:off x="4533900" y="3016517"/>
            <a:ext cx="3217926" cy="27430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72033"/>
                </a:solidFill>
                <a:latin typeface="Schibsted Grotesk" pitchFamily="34" charset="0"/>
                <a:ea typeface="Schibsted Grotesk" pitchFamily="34" charset="-122"/>
                <a:cs typeface="Schibsted Grotesk" pitchFamily="34" charset="-120"/>
              </a:rPr>
              <a:t>Proposal and demo</a:t>
            </a:r>
            <a:endParaRPr lang="en-US" sz="1400" dirty="0"/>
          </a:p>
        </p:txBody>
      </p:sp>
      <p:sp>
        <p:nvSpPr>
          <p:cNvPr id="22" name="Text 20"/>
          <p:cNvSpPr/>
          <p:nvPr/>
        </p:nvSpPr>
        <p:spPr>
          <a:xfrm>
            <a:off x="4533900" y="3265422"/>
            <a:ext cx="321792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Schibsted Grotesk" pitchFamily="34" charset="0"/>
                <a:ea typeface="Schibsted Grotesk" pitchFamily="34" charset="-122"/>
                <a:cs typeface="Schibsted Grotesk" pitchFamily="34" charset="-120"/>
              </a:rPr>
              <a:t>AgroLink proposal due today, not started</a:t>
            </a:r>
            <a:endParaRPr lang="en-US" sz="1200" dirty="0"/>
          </a:p>
        </p:txBody>
      </p:sp>
      <p:sp>
        <p:nvSpPr>
          <p:cNvPr id="23" name="Shape 21"/>
          <p:cNvSpPr/>
          <p:nvPr/>
        </p:nvSpPr>
        <p:spPr>
          <a:xfrm>
            <a:off x="7944909" y="2649736"/>
            <a:ext cx="3431117" cy="999397"/>
          </a:xfrm>
          <a:prstGeom prst="roundRect">
            <a:avLst>
              <a:gd name="adj" fmla="val 7307"/>
            </a:avLst>
          </a:prstGeom>
          <a:solidFill>
            <a:srgbClr val="FBFBFC"/>
          </a:solidFill>
          <a:ln w="6350">
            <a:solidFill>
              <a:srgbClr val="DCE1E8"/>
            </a:solidFill>
            <a:prstDash val="solid"/>
          </a:ln>
        </p:spPr>
      </p:sp>
      <p:sp>
        <p:nvSpPr>
          <p:cNvPr id="24" name="Text 22"/>
          <p:cNvSpPr/>
          <p:nvPr/>
        </p:nvSpPr>
        <p:spPr>
          <a:xfrm>
            <a:off x="8098367" y="2803196"/>
            <a:ext cx="321792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487"/>
                </a:solidFill>
                <a:latin typeface="Schibsted Grotesk" pitchFamily="34" charset="0"/>
                <a:ea typeface="Schibsted Grotesk" pitchFamily="34" charset="-122"/>
                <a:cs typeface="Schibsted Grotesk" pitchFamily="34" charset="-120"/>
              </a:rPr>
              <a:t>Step 6</a:t>
            </a:r>
            <a:endParaRPr lang="en-US" sz="1200" dirty="0"/>
          </a:p>
        </p:txBody>
      </p:sp>
      <p:sp>
        <p:nvSpPr>
          <p:cNvPr id="25" name="Text 23"/>
          <p:cNvSpPr/>
          <p:nvPr/>
        </p:nvSpPr>
        <p:spPr>
          <a:xfrm>
            <a:off x="8098367" y="3016517"/>
            <a:ext cx="3217926" cy="27430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72033"/>
                </a:solidFill>
                <a:latin typeface="Schibsted Grotesk" pitchFamily="34" charset="0"/>
                <a:ea typeface="Schibsted Grotesk" pitchFamily="34" charset="-122"/>
                <a:cs typeface="Schibsted Grotesk" pitchFamily="34" charset="-120"/>
              </a:rPr>
              <a:t>Negotiate and close</a:t>
            </a:r>
            <a:endParaRPr lang="en-US" sz="1400" dirty="0"/>
          </a:p>
        </p:txBody>
      </p:sp>
      <p:sp>
        <p:nvSpPr>
          <p:cNvPr id="26" name="Text 24"/>
          <p:cNvSpPr/>
          <p:nvPr/>
        </p:nvSpPr>
        <p:spPr>
          <a:xfrm>
            <a:off x="8098367" y="3265422"/>
            <a:ext cx="321792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Schibsted Grotesk" pitchFamily="34" charset="0"/>
                <a:ea typeface="Schibsted Grotesk" pitchFamily="34" charset="-122"/>
                <a:cs typeface="Schibsted Grotesk" pitchFamily="34" charset="-120"/>
              </a:rPr>
              <a:t>Competitors invisible in the CRM</a:t>
            </a:r>
            <a:endParaRPr lang="en-US" sz="1200" dirty="0"/>
          </a:p>
        </p:txBody>
      </p:sp>
      <p:sp>
        <p:nvSpPr>
          <p:cNvPr id="27" name="Shape 25"/>
          <p:cNvSpPr/>
          <p:nvPr/>
        </p:nvSpPr>
        <p:spPr>
          <a:xfrm>
            <a:off x="815975" y="3782485"/>
            <a:ext cx="3431117" cy="982464"/>
          </a:xfrm>
          <a:prstGeom prst="roundRect">
            <a:avLst>
              <a:gd name="adj" fmla="val 7433"/>
            </a:avLst>
          </a:prstGeom>
          <a:solidFill>
            <a:srgbClr val="FBFBFC"/>
          </a:solidFill>
          <a:ln w="6350">
            <a:solidFill>
              <a:srgbClr val="DCE1E8"/>
            </a:solidFill>
            <a:prstDash val="solid"/>
          </a:ln>
        </p:spPr>
      </p:sp>
      <p:sp>
        <p:nvSpPr>
          <p:cNvPr id="28" name="Text 26"/>
          <p:cNvSpPr/>
          <p:nvPr/>
        </p:nvSpPr>
        <p:spPr>
          <a:xfrm>
            <a:off x="969433" y="3935943"/>
            <a:ext cx="321792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487"/>
                </a:solidFill>
                <a:latin typeface="Schibsted Grotesk" pitchFamily="34" charset="0"/>
                <a:ea typeface="Schibsted Grotesk" pitchFamily="34" charset="-122"/>
                <a:cs typeface="Schibsted Grotesk" pitchFamily="34" charset="-120"/>
              </a:rPr>
              <a:t>Step 7</a:t>
            </a:r>
            <a:endParaRPr lang="en-US" sz="1200" dirty="0"/>
          </a:p>
        </p:txBody>
      </p:sp>
      <p:sp>
        <p:nvSpPr>
          <p:cNvPr id="29" name="Text 27"/>
          <p:cNvSpPr/>
          <p:nvPr/>
        </p:nvSpPr>
        <p:spPr>
          <a:xfrm>
            <a:off x="969433" y="4149263"/>
            <a:ext cx="3217926" cy="27430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72033"/>
                </a:solidFill>
                <a:latin typeface="Schibsted Grotesk" pitchFamily="34" charset="0"/>
                <a:ea typeface="Schibsted Grotesk" pitchFamily="34" charset="-122"/>
                <a:cs typeface="Schibsted Grotesk" pitchFamily="34" charset="-120"/>
              </a:rPr>
              <a:t>Grow the account</a:t>
            </a:r>
            <a:endParaRPr lang="en-US" sz="1400" dirty="0"/>
          </a:p>
        </p:txBody>
      </p:sp>
      <p:sp>
        <p:nvSpPr>
          <p:cNvPr id="30" name="Text 28"/>
          <p:cNvSpPr/>
          <p:nvPr/>
        </p:nvSpPr>
        <p:spPr>
          <a:xfrm>
            <a:off x="969433" y="4398169"/>
            <a:ext cx="321792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Schibsted Grotesk" pitchFamily="34" charset="0"/>
                <a:ea typeface="Schibsted Grotesk" pitchFamily="34" charset="-122"/>
                <a:cs typeface="Schibsted Grotesk" pitchFamily="34" charset="-120"/>
              </a:rPr>
              <a:t>8 cross-sells never logged</a:t>
            </a:r>
            <a:endParaRPr lang="en-US" sz="1200" dirty="0"/>
          </a:p>
        </p:txBody>
      </p:sp>
      <p:sp>
        <p:nvSpPr>
          <p:cNvPr id="31" name="Shape 29"/>
          <p:cNvSpPr/>
          <p:nvPr/>
        </p:nvSpPr>
        <p:spPr>
          <a:xfrm>
            <a:off x="4380442" y="3782485"/>
            <a:ext cx="3431117" cy="982464"/>
          </a:xfrm>
          <a:prstGeom prst="roundRect">
            <a:avLst>
              <a:gd name="adj" fmla="val 7433"/>
            </a:avLst>
          </a:prstGeom>
          <a:solidFill>
            <a:srgbClr val="FBFBFC"/>
          </a:solidFill>
          <a:ln w="6350">
            <a:solidFill>
              <a:srgbClr val="DCE1E8"/>
            </a:solidFill>
            <a:prstDash val="solid"/>
          </a:ln>
        </p:spPr>
      </p:sp>
      <p:sp>
        <p:nvSpPr>
          <p:cNvPr id="32" name="Text 30"/>
          <p:cNvSpPr/>
          <p:nvPr/>
        </p:nvSpPr>
        <p:spPr>
          <a:xfrm>
            <a:off x="4533900" y="3935943"/>
            <a:ext cx="321792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487"/>
                </a:solidFill>
                <a:latin typeface="Schibsted Grotesk" pitchFamily="34" charset="0"/>
                <a:ea typeface="Schibsted Grotesk" pitchFamily="34" charset="-122"/>
                <a:cs typeface="Schibsted Grotesk" pitchFamily="34" charset="-120"/>
              </a:rPr>
              <a:t>Step 8</a:t>
            </a:r>
            <a:endParaRPr lang="en-US" sz="1200" dirty="0"/>
          </a:p>
        </p:txBody>
      </p:sp>
      <p:sp>
        <p:nvSpPr>
          <p:cNvPr id="33" name="Text 31"/>
          <p:cNvSpPr/>
          <p:nvPr/>
        </p:nvSpPr>
        <p:spPr>
          <a:xfrm>
            <a:off x="4533900" y="4149263"/>
            <a:ext cx="3217926" cy="27430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72033"/>
                </a:solidFill>
                <a:latin typeface="Schibsted Grotesk" pitchFamily="34" charset="0"/>
                <a:ea typeface="Schibsted Grotesk" pitchFamily="34" charset="-122"/>
                <a:cs typeface="Schibsted Grotesk" pitchFamily="34" charset="-120"/>
              </a:rPr>
              <a:t>Revisit parked deals</a:t>
            </a:r>
            <a:endParaRPr lang="en-US" sz="1400" dirty="0"/>
          </a:p>
        </p:txBody>
      </p:sp>
      <p:sp>
        <p:nvSpPr>
          <p:cNvPr id="34" name="Text 32"/>
          <p:cNvSpPr/>
          <p:nvPr/>
        </p:nvSpPr>
        <p:spPr>
          <a:xfrm>
            <a:off x="4533900" y="4398169"/>
            <a:ext cx="321792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Schibsted Grotesk" pitchFamily="34" charset="0"/>
                <a:ea typeface="Schibsted Grotesk" pitchFamily="34" charset="-122"/>
                <a:cs typeface="Schibsted Grotesk" pitchFamily="34" charset="-120"/>
              </a:rPr>
              <a:t>Quantia Q2 revisit missed</a:t>
            </a:r>
            <a:endParaRPr lang="en-US" sz="1200" dirty="0"/>
          </a:p>
        </p:txBody>
      </p:sp>
      <p:sp>
        <p:nvSpPr>
          <p:cNvPr id="35" name="Shape 33"/>
          <p:cNvSpPr/>
          <p:nvPr/>
        </p:nvSpPr>
        <p:spPr>
          <a:xfrm>
            <a:off x="7944909" y="3782485"/>
            <a:ext cx="3431117" cy="982464"/>
          </a:xfrm>
          <a:prstGeom prst="roundRect">
            <a:avLst>
              <a:gd name="adj" fmla="val 7433"/>
            </a:avLst>
          </a:prstGeom>
          <a:solidFill>
            <a:srgbClr val="FBFBFC"/>
          </a:solidFill>
          <a:ln w="6350">
            <a:solidFill>
              <a:srgbClr val="DCE1E8"/>
            </a:solidFill>
            <a:prstDash val="solid"/>
          </a:ln>
        </p:spPr>
      </p:sp>
      <p:sp>
        <p:nvSpPr>
          <p:cNvPr id="36" name="Text 34"/>
          <p:cNvSpPr/>
          <p:nvPr/>
        </p:nvSpPr>
        <p:spPr>
          <a:xfrm>
            <a:off x="8098367" y="3935943"/>
            <a:ext cx="321792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487"/>
                </a:solidFill>
                <a:latin typeface="Schibsted Grotesk" pitchFamily="34" charset="0"/>
                <a:ea typeface="Schibsted Grotesk" pitchFamily="34" charset="-122"/>
                <a:cs typeface="Schibsted Grotesk" pitchFamily="34" charset="-120"/>
              </a:rPr>
              <a:t>Step 9</a:t>
            </a:r>
            <a:endParaRPr lang="en-US" sz="1200" dirty="0"/>
          </a:p>
        </p:txBody>
      </p:sp>
      <p:sp>
        <p:nvSpPr>
          <p:cNvPr id="37" name="Text 35"/>
          <p:cNvSpPr/>
          <p:nvPr/>
        </p:nvSpPr>
        <p:spPr>
          <a:xfrm>
            <a:off x="8098367" y="4149263"/>
            <a:ext cx="3217926" cy="27430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72033"/>
                </a:solidFill>
                <a:latin typeface="Schibsted Grotesk" pitchFamily="34" charset="0"/>
                <a:ea typeface="Schibsted Grotesk" pitchFamily="34" charset="-122"/>
                <a:cs typeface="Schibsted Grotesk" pitchFamily="34" charset="-120"/>
              </a:rPr>
              <a:t>Pipeline review</a:t>
            </a:r>
            <a:endParaRPr lang="en-US" sz="1400" dirty="0"/>
          </a:p>
        </p:txBody>
      </p:sp>
      <p:sp>
        <p:nvSpPr>
          <p:cNvPr id="38" name="Text 36"/>
          <p:cNvSpPr/>
          <p:nvPr/>
        </p:nvSpPr>
        <p:spPr>
          <a:xfrm>
            <a:off x="8098367" y="4398169"/>
            <a:ext cx="321792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Schibsted Grotesk" pitchFamily="34" charset="0"/>
                <a:ea typeface="Schibsted Grotesk" pitchFamily="34" charset="-122"/>
                <a:cs typeface="Schibsted Grotesk" pitchFamily="34" charset="-120"/>
              </a:rPr>
              <a:t>~2 hours reconciling inboxes</a:t>
            </a:r>
            <a:endParaRPr lang="en-US" sz="1200" dirty="0"/>
          </a:p>
        </p:txBody>
      </p:sp>
      <p:sp>
        <p:nvSpPr>
          <p:cNvPr id="39" name="Text 37"/>
          <p:cNvSpPr/>
          <p:nvPr/>
        </p:nvSpPr>
        <p:spPr>
          <a:xfrm>
            <a:off x="812800" y="6238280"/>
            <a:ext cx="91567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487"/>
                </a:solidFill>
                <a:latin typeface="Schibsted Grotesk" pitchFamily="34" charset="0"/>
                <a:ea typeface="Schibsted Grotesk" pitchFamily="34" charset="-122"/>
                <a:cs typeface="Schibsted Grotesk" pitchFamily="34" charset="-120"/>
              </a:rPr>
              <a:t>Full board: Capstone1_Yaswanth_OpportunityMap (PDF, PNG, Miro CSV)</a:t>
            </a:r>
            <a:endParaRPr lang="en-US" sz="1200" dirty="0"/>
          </a:p>
        </p:txBody>
      </p:sp>
      <p:sp>
        <p:nvSpPr>
          <p:cNvPr id="40" name="Text 38"/>
          <p:cNvSpPr/>
          <p:nvPr/>
        </p:nvSpPr>
        <p:spPr>
          <a:xfrm>
            <a:off x="10693400" y="6238280"/>
            <a:ext cx="685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487"/>
                </a:solidFill>
                <a:latin typeface="Schibsted Grotesk" pitchFamily="34" charset="0"/>
                <a:ea typeface="Schibsted Grotesk" pitchFamily="34" charset="-122"/>
                <a:cs typeface="Schibsted Grotesk" pitchFamily="34" charset="-120"/>
              </a:rPr>
              <a:t>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5F8"/>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72033"/>
                </a:solidFill>
                <a:latin typeface="Schibsted Grotesk" pitchFamily="34" charset="0"/>
                <a:ea typeface="Schibsted Grotesk" pitchFamily="34" charset="-122"/>
                <a:cs typeface="Schibsted Grotesk" pitchFamily="34" charset="-120"/>
              </a:rPr>
              <a:t>Scoring 14 AI opportunities: impact x feasibility</a:t>
            </a:r>
            <a:endParaRPr lang="en-US" sz="32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25500" y="1501115"/>
          <a:ext cx="10553700" cy="3233738"/>
        </p:xfrm>
        <a:graphic>
          <a:graphicData uri="http://schemas.openxmlformats.org/drawingml/2006/table">
            <a:tbl>
              <a:tblPr/>
              <a:tblGrid>
                <a:gridCol w="5276850"/>
                <a:gridCol w="2321814"/>
                <a:gridCol w="1055370"/>
                <a:gridCol w="1899666"/>
              </a:tblGrid>
              <a:tr h="359304">
                <a:tc>
                  <a:txBody>
                    <a:bodyPr/>
                    <a:lstStyle/>
                    <a:p>
                      <a:pPr indent="0" marL="0">
                        <a:lnSpc>
                          <a:spcPts val="1820"/>
                        </a:lnSpc>
                        <a:buNone/>
                      </a:pPr>
                      <a:r>
                        <a:rPr lang="en-US" sz="1300" b="1" dirty="0">
                          <a:solidFill>
                            <a:srgbClr val="172033"/>
                          </a:solidFill>
                          <a:latin typeface="Schibsted Grotesk" pitchFamily="34" charset="0"/>
                          <a:ea typeface="Schibsted Grotesk" pitchFamily="34" charset="-122"/>
                          <a:cs typeface="Schibsted Grotesk" pitchFamily="34" charset="-120"/>
                        </a:rPr>
                        <a:t>Opportunity</a:t>
                      </a:r>
                      <a:endParaRPr lang="en-US" sz="1300" dirty="0">
                        <a:latin typeface="Schibsted Grotesk" charset="0"/>
                        <a:ea typeface="Schibsted Grotesk" charset="0"/>
                        <a:cs typeface="Schibsted Grotesk" charset="0"/>
                      </a:endParaRPr>
                    </a:p>
                  </a:txBody>
                  <a:tcPr marL="57785" marR="57785" marT="57785" marB="57785" anchor="t">
                    <a:lnL w="12700" cap="flat" cmpd="sng" algn="ctr">
                      <a:solidFill>
                        <a:srgbClr val="C3C4C6"/>
                      </a:solidFill>
                      <a:prstDash val="solid"/>
                      <a:round/>
                      <a:headEnd type="none" w="med" len="med"/>
                      <a:tailEnd type="none" w="med" len="med"/>
                    </a:lnL>
                    <a:lnR w="12700" cap="flat" cmpd="sng" algn="ctr">
                      <a:solidFill>
                        <a:srgbClr val="B5B5B8"/>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B5B5B8"/>
                      </a:solidFill>
                      <a:prstDash val="solid"/>
                      <a:round/>
                      <a:headEnd type="none" w="med" len="med"/>
                      <a:tailEnd type="none" w="med" len="med"/>
                    </a:lnB>
                    <a:solidFill>
                      <a:srgbClr val="E2E3E6"/>
                    </a:solidFill>
                  </a:tcPr>
                </a:tc>
                <a:tc>
                  <a:txBody>
                    <a:bodyPr/>
                    <a:lstStyle/>
                    <a:p>
                      <a:pPr indent="0" marL="0">
                        <a:lnSpc>
                          <a:spcPts val="1820"/>
                        </a:lnSpc>
                        <a:buNone/>
                      </a:pPr>
                      <a:r>
                        <a:rPr lang="en-US" sz="1300" b="1" dirty="0">
                          <a:solidFill>
                            <a:srgbClr val="172033"/>
                          </a:solidFill>
                          <a:latin typeface="Schibsted Grotesk" pitchFamily="34" charset="0"/>
                          <a:ea typeface="Schibsted Grotesk" pitchFamily="34" charset="-122"/>
                          <a:cs typeface="Schibsted Grotesk" pitchFamily="34" charset="-120"/>
                        </a:rPr>
                        <a:t>AI capability</a:t>
                      </a:r>
                      <a:endParaRPr lang="en-US" sz="1300" dirty="0">
                        <a:latin typeface="Schibsted Grotesk" charset="0"/>
                        <a:ea typeface="Schibsted Grotesk" charset="0"/>
                        <a:cs typeface="Schibsted Grotesk" charset="0"/>
                      </a:endParaRPr>
                    </a:p>
                  </a:txBody>
                  <a:tcPr marL="57785" marR="57785" marT="57785" marB="57785" anchor="t">
                    <a:lnL w="12700" cap="flat" cmpd="sng" algn="ctr">
                      <a:solidFill>
                        <a:srgbClr val="B5B5B8"/>
                      </a:solidFill>
                      <a:prstDash val="solid"/>
                      <a:round/>
                      <a:headEnd type="none" w="med" len="med"/>
                      <a:tailEnd type="none" w="med" len="med"/>
                    </a:lnL>
                    <a:lnR w="12700" cap="flat" cmpd="sng" algn="ctr">
                      <a:solidFill>
                        <a:srgbClr val="B5B5B8"/>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B5B5B8"/>
                      </a:solidFill>
                      <a:prstDash val="solid"/>
                      <a:round/>
                      <a:headEnd type="none" w="med" len="med"/>
                      <a:tailEnd type="none" w="med" len="med"/>
                    </a:lnB>
                    <a:solidFill>
                      <a:srgbClr val="E2E3E6"/>
                    </a:solidFill>
                  </a:tcPr>
                </a:tc>
                <a:tc>
                  <a:txBody>
                    <a:bodyPr/>
                    <a:lstStyle/>
                    <a:p>
                      <a:pPr algn="r" indent="0" marL="0">
                        <a:lnSpc>
                          <a:spcPts val="1820"/>
                        </a:lnSpc>
                        <a:buNone/>
                      </a:pPr>
                      <a:r>
                        <a:rPr lang="en-US" sz="1300" b="1" dirty="0">
                          <a:solidFill>
                            <a:srgbClr val="172033"/>
                          </a:solidFill>
                          <a:latin typeface="Schibsted Grotesk" pitchFamily="34" charset="0"/>
                          <a:ea typeface="Schibsted Grotesk" pitchFamily="34" charset="-122"/>
                          <a:cs typeface="Schibsted Grotesk" pitchFamily="34" charset="-120"/>
                        </a:rPr>
                        <a:t>Score</a:t>
                      </a:r>
                      <a:endParaRPr lang="en-US" sz="1300" dirty="0">
                        <a:latin typeface="Schibsted Grotesk" charset="0"/>
                        <a:ea typeface="Schibsted Grotesk" charset="0"/>
                        <a:cs typeface="Schibsted Grotesk" charset="0"/>
                      </a:endParaRPr>
                    </a:p>
                  </a:txBody>
                  <a:tcPr marL="57785" marR="57785" marT="57785" marB="57785" anchor="t">
                    <a:lnL w="12700" cap="flat" cmpd="sng" algn="ctr">
                      <a:solidFill>
                        <a:srgbClr val="B5B5B8"/>
                      </a:solidFill>
                      <a:prstDash val="solid"/>
                      <a:round/>
                      <a:headEnd type="none" w="med" len="med"/>
                      <a:tailEnd type="none" w="med" len="med"/>
                    </a:lnL>
                    <a:lnR w="12700" cap="flat" cmpd="sng" algn="ctr">
                      <a:solidFill>
                        <a:srgbClr val="B5B5B8"/>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B5B5B8"/>
                      </a:solidFill>
                      <a:prstDash val="solid"/>
                      <a:round/>
                      <a:headEnd type="none" w="med" len="med"/>
                      <a:tailEnd type="none" w="med" len="med"/>
                    </a:lnB>
                    <a:solidFill>
                      <a:srgbClr val="E2E3E6"/>
                    </a:solidFill>
                  </a:tcPr>
                </a:tc>
                <a:tc>
                  <a:txBody>
                    <a:bodyPr/>
                    <a:lstStyle/>
                    <a:p>
                      <a:pPr indent="0" marL="0">
                        <a:lnSpc>
                          <a:spcPts val="1820"/>
                        </a:lnSpc>
                        <a:buNone/>
                      </a:pPr>
                      <a:r>
                        <a:rPr lang="en-US" sz="1300" b="1" dirty="0">
                          <a:solidFill>
                            <a:srgbClr val="172033"/>
                          </a:solidFill>
                          <a:latin typeface="Schibsted Grotesk" pitchFamily="34" charset="0"/>
                          <a:ea typeface="Schibsted Grotesk" pitchFamily="34" charset="-122"/>
                          <a:cs typeface="Schibsted Grotesk" pitchFamily="34" charset="-120"/>
                        </a:rPr>
                        <a:t>Decision</a:t>
                      </a:r>
                      <a:endParaRPr lang="en-US" sz="1300" dirty="0">
                        <a:latin typeface="Schibsted Grotesk" charset="0"/>
                        <a:ea typeface="Schibsted Grotesk" charset="0"/>
                        <a:cs typeface="Schibsted Grotesk" charset="0"/>
                      </a:endParaRPr>
                    </a:p>
                  </a:txBody>
                  <a:tcPr marL="57785" marR="57785" marT="57785" marB="57785" anchor="t">
                    <a:lnL w="12700" cap="flat" cmpd="sng" algn="ctr">
                      <a:solidFill>
                        <a:srgbClr val="B5B5B8"/>
                      </a:solidFill>
                      <a:prstDash val="solid"/>
                      <a:round/>
                      <a:headEnd type="none" w="med" len="med"/>
                      <a:tailEnd type="none" w="med" len="med"/>
                    </a:lnL>
                    <a:lnR w="12700" cap="flat" cmpd="sng" algn="ctr">
                      <a:solidFill>
                        <a:srgbClr val="B5B5B8"/>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B5B5B8"/>
                      </a:solidFill>
                      <a:prstDash val="solid"/>
                      <a:round/>
                      <a:headEnd type="none" w="med" len="med"/>
                      <a:tailEnd type="none" w="med" len="med"/>
                    </a:lnB>
                    <a:solidFill>
                      <a:srgbClr val="E2E3E6"/>
                    </a:solidFill>
                  </a:tcPr>
                </a:tc>
              </a:tr>
              <a:tr h="359304">
                <a:tc>
                  <a:txBody>
                    <a:bodyPr/>
                    <a:lstStyle/>
                    <a:p>
                      <a:pPr indent="0" marL="0">
                        <a:lnSpc>
                          <a:spcPts val="1820"/>
                        </a:lnSpc>
                        <a:buNone/>
                      </a:pPr>
                      <a:r>
                        <a:rPr lang="en-US" sz="1300" dirty="0">
                          <a:solidFill>
                            <a:srgbClr val="172033"/>
                          </a:solidFill>
                          <a:latin typeface="Schibsted Grotesk" pitchFamily="34" charset="0"/>
                          <a:ea typeface="Schibsted Grotesk" pitchFamily="34" charset="-122"/>
                          <a:cs typeface="Schibsted Grotesk" pitchFamily="34" charset="-120"/>
                        </a:rPr>
                        <a:t>'Who is waiting on us' queue + daily list</a:t>
                      </a:r>
                      <a:endParaRPr lang="en-US" sz="1300" dirty="0">
                        <a:latin typeface="Schibsted Grotesk" charset="0"/>
                        <a:ea typeface="Schibsted Grotesk" charset="0"/>
                        <a:cs typeface="Schibsted Grotesk" charset="0"/>
                      </a:endParaRPr>
                    </a:p>
                  </a:txBody>
                  <a:tcPr marL="57785" marR="57785" marT="57785" marB="57785"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B5B5B8"/>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1820"/>
                        </a:lnSpc>
                        <a:buNone/>
                      </a:pPr>
                      <a:r>
                        <a:rPr lang="en-US" sz="1300" dirty="0">
                          <a:solidFill>
                            <a:srgbClr val="172033"/>
                          </a:solidFill>
                          <a:latin typeface="Schibsted Grotesk" pitchFamily="34" charset="0"/>
                          <a:ea typeface="Schibsted Grotesk" pitchFamily="34" charset="-122"/>
                          <a:cs typeface="Schibsted Grotesk" pitchFamily="34" charset="-120"/>
                        </a:rPr>
                        <a:t>Extraction + rules</a:t>
                      </a:r>
                      <a:endParaRPr lang="en-US" sz="1300" dirty="0">
                        <a:latin typeface="Schibsted Grotesk" charset="0"/>
                        <a:ea typeface="Schibsted Grotesk" charset="0"/>
                        <a:cs typeface="Schibsted Grotesk" charset="0"/>
                      </a:endParaRPr>
                    </a:p>
                  </a:txBody>
                  <a:tcPr marL="57785" marR="57785" marT="57785" marB="57785"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B5B5B8"/>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algn="r" indent="0" marL="0">
                        <a:lnSpc>
                          <a:spcPts val="1820"/>
                        </a:lnSpc>
                        <a:buNone/>
                      </a:pPr>
                      <a:r>
                        <a:rPr lang="en-US" sz="1300" dirty="0">
                          <a:solidFill>
                            <a:srgbClr val="172033"/>
                          </a:solidFill>
                          <a:latin typeface="Schibsted Grotesk" pitchFamily="34" charset="0"/>
                          <a:ea typeface="Schibsted Grotesk" pitchFamily="34" charset="-122"/>
                          <a:cs typeface="Schibsted Grotesk" pitchFamily="34" charset="-120"/>
                        </a:rPr>
                        <a:t>25</a:t>
                      </a:r>
                      <a:endParaRPr lang="en-US" sz="1300" dirty="0">
                        <a:latin typeface="Schibsted Grotesk" charset="0"/>
                        <a:ea typeface="Schibsted Grotesk" charset="0"/>
                        <a:cs typeface="Schibsted Grotesk" charset="0"/>
                      </a:endParaRPr>
                    </a:p>
                  </a:txBody>
                  <a:tcPr marL="57785" marR="57785" marT="57785" marB="57785"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B5B5B8"/>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1820"/>
                        </a:lnSpc>
                        <a:buNone/>
                      </a:pPr>
                      <a:r>
                        <a:rPr lang="en-US" sz="1300" dirty="0">
                          <a:solidFill>
                            <a:srgbClr val="172033"/>
                          </a:solidFill>
                          <a:latin typeface="Schibsted Grotesk" pitchFamily="34" charset="0"/>
                          <a:ea typeface="Schibsted Grotesk" pitchFamily="34" charset="-122"/>
                          <a:cs typeface="Schibsted Grotesk" pitchFamily="34" charset="-120"/>
                        </a:rPr>
                        <a:t>Build v1</a:t>
                      </a:r>
                      <a:endParaRPr lang="en-US" sz="1300" dirty="0">
                        <a:latin typeface="Schibsted Grotesk" charset="0"/>
                        <a:ea typeface="Schibsted Grotesk" charset="0"/>
                        <a:cs typeface="Schibsted Grotesk" charset="0"/>
                      </a:endParaRPr>
                    </a:p>
                  </a:txBody>
                  <a:tcPr marL="57785" marR="57785" marT="57785" marB="57785"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B5B5B8"/>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r>
              <a:tr h="359304">
                <a:tc>
                  <a:txBody>
                    <a:bodyPr/>
                    <a:lstStyle/>
                    <a:p>
                      <a:pPr indent="0" marL="0">
                        <a:lnSpc>
                          <a:spcPts val="1820"/>
                        </a:lnSpc>
                        <a:buNone/>
                      </a:pPr>
                      <a:r>
                        <a:rPr lang="en-US" sz="1300" dirty="0">
                          <a:solidFill>
                            <a:srgbClr val="172033"/>
                          </a:solidFill>
                          <a:latin typeface="Schibsted Grotesk" pitchFamily="34" charset="0"/>
                          <a:ea typeface="Schibsted Grotesk" pitchFamily="34" charset="-122"/>
                          <a:cs typeface="Schibsted Grotesk" pitchFamily="34" charset="-120"/>
                        </a:rPr>
                        <a:t>Capture every channel; extract asks, promises, dates</a:t>
                      </a:r>
                      <a:endParaRPr lang="en-US" sz="1300" dirty="0">
                        <a:latin typeface="Schibsted Grotesk" charset="0"/>
                        <a:ea typeface="Schibsted Grotesk" charset="0"/>
                        <a:cs typeface="Schibsted Grotesk" charset="0"/>
                      </a:endParaRPr>
                    </a:p>
                  </a:txBody>
                  <a:tcPr marL="57785" marR="57785" marT="57785" marB="57785"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1820"/>
                        </a:lnSpc>
                        <a:buNone/>
                      </a:pPr>
                      <a:r>
                        <a:rPr lang="en-US" sz="1300" dirty="0">
                          <a:solidFill>
                            <a:srgbClr val="172033"/>
                          </a:solidFill>
                          <a:latin typeface="Schibsted Grotesk" pitchFamily="34" charset="0"/>
                          <a:ea typeface="Schibsted Grotesk" pitchFamily="34" charset="-122"/>
                          <a:cs typeface="Schibsted Grotesk" pitchFamily="34" charset="-120"/>
                        </a:rPr>
                        <a:t>LLM extraction</a:t>
                      </a:r>
                      <a:endParaRPr lang="en-US" sz="1300" dirty="0">
                        <a:latin typeface="Schibsted Grotesk" charset="0"/>
                        <a:ea typeface="Schibsted Grotesk" charset="0"/>
                        <a:cs typeface="Schibsted Grotesk" charset="0"/>
                      </a:endParaRPr>
                    </a:p>
                  </a:txBody>
                  <a:tcPr marL="57785" marR="57785" marT="57785" marB="57785"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algn="r" indent="0" marL="0">
                        <a:lnSpc>
                          <a:spcPts val="1820"/>
                        </a:lnSpc>
                        <a:buNone/>
                      </a:pPr>
                      <a:r>
                        <a:rPr lang="en-US" sz="1300" dirty="0">
                          <a:solidFill>
                            <a:srgbClr val="172033"/>
                          </a:solidFill>
                          <a:latin typeface="Schibsted Grotesk" pitchFamily="34" charset="0"/>
                          <a:ea typeface="Schibsted Grotesk" pitchFamily="34" charset="-122"/>
                          <a:cs typeface="Schibsted Grotesk" pitchFamily="34" charset="-120"/>
                        </a:rPr>
                        <a:t>20</a:t>
                      </a:r>
                      <a:endParaRPr lang="en-US" sz="1300" dirty="0">
                        <a:latin typeface="Schibsted Grotesk" charset="0"/>
                        <a:ea typeface="Schibsted Grotesk" charset="0"/>
                        <a:cs typeface="Schibsted Grotesk" charset="0"/>
                      </a:endParaRPr>
                    </a:p>
                  </a:txBody>
                  <a:tcPr marL="57785" marR="57785" marT="57785" marB="57785"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1820"/>
                        </a:lnSpc>
                        <a:buNone/>
                      </a:pPr>
                      <a:r>
                        <a:rPr lang="en-US" sz="1300" dirty="0">
                          <a:solidFill>
                            <a:srgbClr val="172033"/>
                          </a:solidFill>
                          <a:latin typeface="Schibsted Grotesk" pitchFamily="34" charset="0"/>
                          <a:ea typeface="Schibsted Grotesk" pitchFamily="34" charset="-122"/>
                          <a:cs typeface="Schibsted Grotesk" pitchFamily="34" charset="-120"/>
                        </a:rPr>
                        <a:t>Build v1</a:t>
                      </a:r>
                      <a:endParaRPr lang="en-US" sz="1300" dirty="0">
                        <a:latin typeface="Schibsted Grotesk" charset="0"/>
                        <a:ea typeface="Schibsted Grotesk" charset="0"/>
                        <a:cs typeface="Schibsted Grotesk" charset="0"/>
                      </a:endParaRPr>
                    </a:p>
                  </a:txBody>
                  <a:tcPr marL="57785" marR="57785" marT="57785" marB="57785"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r>
              <a:tr h="359304">
                <a:tc>
                  <a:txBody>
                    <a:bodyPr/>
                    <a:lstStyle/>
                    <a:p>
                      <a:pPr indent="0" marL="0">
                        <a:lnSpc>
                          <a:spcPts val="1820"/>
                        </a:lnSpc>
                        <a:buNone/>
                      </a:pPr>
                      <a:r>
                        <a:rPr lang="en-US" sz="1300" dirty="0">
                          <a:solidFill>
                            <a:srgbClr val="172033"/>
                          </a:solidFill>
                          <a:latin typeface="Schibsted Grotesk" pitchFamily="34" charset="0"/>
                          <a:ea typeface="Schibsted Grotesk" pitchFamily="34" charset="-122"/>
                          <a:cs typeface="Schibsted Grotesk" pitchFamily="34" charset="-120"/>
                        </a:rPr>
                        <a:t>CRM update proposals with evidence</a:t>
                      </a:r>
                      <a:endParaRPr lang="en-US" sz="1300" dirty="0">
                        <a:latin typeface="Schibsted Grotesk" charset="0"/>
                        <a:ea typeface="Schibsted Grotesk" charset="0"/>
                        <a:cs typeface="Schibsted Grotesk" charset="0"/>
                      </a:endParaRPr>
                    </a:p>
                  </a:txBody>
                  <a:tcPr marL="57785" marR="57785" marT="57785" marB="57785"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1820"/>
                        </a:lnSpc>
                        <a:buNone/>
                      </a:pPr>
                      <a:r>
                        <a:rPr lang="en-US" sz="1300" dirty="0">
                          <a:solidFill>
                            <a:srgbClr val="172033"/>
                          </a:solidFill>
                          <a:latin typeface="Schibsted Grotesk" pitchFamily="34" charset="0"/>
                          <a:ea typeface="Schibsted Grotesk" pitchFamily="34" charset="-122"/>
                          <a:cs typeface="Schibsted Grotesk" pitchFamily="34" charset="-120"/>
                        </a:rPr>
                        <a:t>Extraction + rules</a:t>
                      </a:r>
                      <a:endParaRPr lang="en-US" sz="1300" dirty="0">
                        <a:latin typeface="Schibsted Grotesk" charset="0"/>
                        <a:ea typeface="Schibsted Grotesk" charset="0"/>
                        <a:cs typeface="Schibsted Grotesk" charset="0"/>
                      </a:endParaRPr>
                    </a:p>
                  </a:txBody>
                  <a:tcPr marL="57785" marR="57785" marT="57785" marB="57785"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algn="r" indent="0" marL="0">
                        <a:lnSpc>
                          <a:spcPts val="1820"/>
                        </a:lnSpc>
                        <a:buNone/>
                      </a:pPr>
                      <a:r>
                        <a:rPr lang="en-US" sz="1300" dirty="0">
                          <a:solidFill>
                            <a:srgbClr val="172033"/>
                          </a:solidFill>
                          <a:latin typeface="Schibsted Grotesk" pitchFamily="34" charset="0"/>
                          <a:ea typeface="Schibsted Grotesk" pitchFamily="34" charset="-122"/>
                          <a:cs typeface="Schibsted Grotesk" pitchFamily="34" charset="-120"/>
                        </a:rPr>
                        <a:t>20</a:t>
                      </a:r>
                      <a:endParaRPr lang="en-US" sz="1300" dirty="0">
                        <a:latin typeface="Schibsted Grotesk" charset="0"/>
                        <a:ea typeface="Schibsted Grotesk" charset="0"/>
                        <a:cs typeface="Schibsted Grotesk" charset="0"/>
                      </a:endParaRPr>
                    </a:p>
                  </a:txBody>
                  <a:tcPr marL="57785" marR="57785" marT="57785" marB="57785"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1820"/>
                        </a:lnSpc>
                        <a:buNone/>
                      </a:pPr>
                      <a:r>
                        <a:rPr lang="en-US" sz="1300" dirty="0">
                          <a:solidFill>
                            <a:srgbClr val="172033"/>
                          </a:solidFill>
                          <a:latin typeface="Schibsted Grotesk" pitchFamily="34" charset="0"/>
                          <a:ea typeface="Schibsted Grotesk" pitchFamily="34" charset="-122"/>
                          <a:cs typeface="Schibsted Grotesk" pitchFamily="34" charset="-120"/>
                        </a:rPr>
                        <a:t>Build v1</a:t>
                      </a:r>
                      <a:endParaRPr lang="en-US" sz="1300" dirty="0">
                        <a:latin typeface="Schibsted Grotesk" charset="0"/>
                        <a:ea typeface="Schibsted Grotesk" charset="0"/>
                        <a:cs typeface="Schibsted Grotesk" charset="0"/>
                      </a:endParaRPr>
                    </a:p>
                  </a:txBody>
                  <a:tcPr marL="57785" marR="57785" marT="57785" marB="57785"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r>
              <a:tr h="359304">
                <a:tc>
                  <a:txBody>
                    <a:bodyPr/>
                    <a:lstStyle/>
                    <a:p>
                      <a:pPr indent="0" marL="0">
                        <a:lnSpc>
                          <a:spcPts val="1820"/>
                        </a:lnSpc>
                        <a:buNone/>
                      </a:pPr>
                      <a:r>
                        <a:rPr lang="en-US" sz="1300" dirty="0">
                          <a:solidFill>
                            <a:srgbClr val="172033"/>
                          </a:solidFill>
                          <a:latin typeface="Schibsted Grotesk" pitchFamily="34" charset="0"/>
                          <a:ea typeface="Schibsted Grotesk" pitchFamily="34" charset="-122"/>
                          <a:cs typeface="Schibsted Grotesk" pitchFamily="34" charset="-120"/>
                        </a:rPr>
                        <a:t>Priority score using the CEO's own rules</a:t>
                      </a:r>
                      <a:endParaRPr lang="en-US" sz="1300" dirty="0">
                        <a:latin typeface="Schibsted Grotesk" charset="0"/>
                        <a:ea typeface="Schibsted Grotesk" charset="0"/>
                        <a:cs typeface="Schibsted Grotesk" charset="0"/>
                      </a:endParaRPr>
                    </a:p>
                  </a:txBody>
                  <a:tcPr marL="57785" marR="57785" marT="57785" marB="57785"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1820"/>
                        </a:lnSpc>
                        <a:buNone/>
                      </a:pPr>
                      <a:r>
                        <a:rPr lang="en-US" sz="1300" dirty="0">
                          <a:solidFill>
                            <a:srgbClr val="172033"/>
                          </a:solidFill>
                          <a:latin typeface="Schibsted Grotesk" pitchFamily="34" charset="0"/>
                          <a:ea typeface="Schibsted Grotesk" pitchFamily="34" charset="-122"/>
                          <a:cs typeface="Schibsted Grotesk" pitchFamily="34" charset="-120"/>
                        </a:rPr>
                        <a:t>Rules</a:t>
                      </a:r>
                      <a:endParaRPr lang="en-US" sz="1300" dirty="0">
                        <a:latin typeface="Schibsted Grotesk" charset="0"/>
                        <a:ea typeface="Schibsted Grotesk" charset="0"/>
                        <a:cs typeface="Schibsted Grotesk" charset="0"/>
                      </a:endParaRPr>
                    </a:p>
                  </a:txBody>
                  <a:tcPr marL="57785" marR="57785" marT="57785" marB="57785"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algn="r" indent="0" marL="0">
                        <a:lnSpc>
                          <a:spcPts val="1820"/>
                        </a:lnSpc>
                        <a:buNone/>
                      </a:pPr>
                      <a:r>
                        <a:rPr lang="en-US" sz="1300" dirty="0">
                          <a:solidFill>
                            <a:srgbClr val="172033"/>
                          </a:solidFill>
                          <a:latin typeface="Schibsted Grotesk" pitchFamily="34" charset="0"/>
                          <a:ea typeface="Schibsted Grotesk" pitchFamily="34" charset="-122"/>
                          <a:cs typeface="Schibsted Grotesk" pitchFamily="34" charset="-120"/>
                        </a:rPr>
                        <a:t>20</a:t>
                      </a:r>
                      <a:endParaRPr lang="en-US" sz="1300" dirty="0">
                        <a:latin typeface="Schibsted Grotesk" charset="0"/>
                        <a:ea typeface="Schibsted Grotesk" charset="0"/>
                        <a:cs typeface="Schibsted Grotesk" charset="0"/>
                      </a:endParaRPr>
                    </a:p>
                  </a:txBody>
                  <a:tcPr marL="57785" marR="57785" marT="57785" marB="57785"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1820"/>
                        </a:lnSpc>
                        <a:buNone/>
                      </a:pPr>
                      <a:r>
                        <a:rPr lang="en-US" sz="1300" dirty="0">
                          <a:solidFill>
                            <a:srgbClr val="172033"/>
                          </a:solidFill>
                          <a:latin typeface="Schibsted Grotesk" pitchFamily="34" charset="0"/>
                          <a:ea typeface="Schibsted Grotesk" pitchFamily="34" charset="-122"/>
                          <a:cs typeface="Schibsted Grotesk" pitchFamily="34" charset="-120"/>
                        </a:rPr>
                        <a:t>Build v1</a:t>
                      </a:r>
                      <a:endParaRPr lang="en-US" sz="1300" dirty="0">
                        <a:latin typeface="Schibsted Grotesk" charset="0"/>
                        <a:ea typeface="Schibsted Grotesk" charset="0"/>
                        <a:cs typeface="Schibsted Grotesk" charset="0"/>
                      </a:endParaRPr>
                    </a:p>
                  </a:txBody>
                  <a:tcPr marL="57785" marR="57785" marT="57785" marB="57785"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r>
              <a:tr h="359304">
                <a:tc>
                  <a:txBody>
                    <a:bodyPr/>
                    <a:lstStyle/>
                    <a:p>
                      <a:pPr indent="0" marL="0">
                        <a:lnSpc>
                          <a:spcPts val="1820"/>
                        </a:lnSpc>
                        <a:buNone/>
                      </a:pPr>
                      <a:r>
                        <a:rPr lang="en-US" sz="1300" dirty="0">
                          <a:solidFill>
                            <a:srgbClr val="172033"/>
                          </a:solidFill>
                          <a:latin typeface="Schibsted Grotesk" pitchFamily="34" charset="0"/>
                          <a:ea typeface="Schibsted Grotesk" pitchFamily="34" charset="-122"/>
                          <a:cs typeface="Schibsted Grotesk" pitchFamily="34" charset="-120"/>
                        </a:rPr>
                        <a:t>Grounded follow-up drafts</a:t>
                      </a:r>
                      <a:endParaRPr lang="en-US" sz="1300" dirty="0">
                        <a:latin typeface="Schibsted Grotesk" charset="0"/>
                        <a:ea typeface="Schibsted Grotesk" charset="0"/>
                        <a:cs typeface="Schibsted Grotesk" charset="0"/>
                      </a:endParaRPr>
                    </a:p>
                  </a:txBody>
                  <a:tcPr marL="57785" marR="57785" marT="57785" marB="57785"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1820"/>
                        </a:lnSpc>
                        <a:buNone/>
                      </a:pPr>
                      <a:r>
                        <a:rPr lang="en-US" sz="1300" dirty="0">
                          <a:solidFill>
                            <a:srgbClr val="172033"/>
                          </a:solidFill>
                          <a:latin typeface="Schibsted Grotesk" pitchFamily="34" charset="0"/>
                          <a:ea typeface="Schibsted Grotesk" pitchFamily="34" charset="-122"/>
                          <a:cs typeface="Schibsted Grotesk" pitchFamily="34" charset="-120"/>
                        </a:rPr>
                        <a:t>Generation</a:t>
                      </a:r>
                      <a:endParaRPr lang="en-US" sz="1300" dirty="0">
                        <a:latin typeface="Schibsted Grotesk" charset="0"/>
                        <a:ea typeface="Schibsted Grotesk" charset="0"/>
                        <a:cs typeface="Schibsted Grotesk" charset="0"/>
                      </a:endParaRPr>
                    </a:p>
                  </a:txBody>
                  <a:tcPr marL="57785" marR="57785" marT="57785" marB="57785"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algn="r" indent="0" marL="0">
                        <a:lnSpc>
                          <a:spcPts val="1820"/>
                        </a:lnSpc>
                        <a:buNone/>
                      </a:pPr>
                      <a:r>
                        <a:rPr lang="en-US" sz="1300" dirty="0">
                          <a:solidFill>
                            <a:srgbClr val="172033"/>
                          </a:solidFill>
                          <a:latin typeface="Schibsted Grotesk" pitchFamily="34" charset="0"/>
                          <a:ea typeface="Schibsted Grotesk" pitchFamily="34" charset="-122"/>
                          <a:cs typeface="Schibsted Grotesk" pitchFamily="34" charset="-120"/>
                        </a:rPr>
                        <a:t>16</a:t>
                      </a:r>
                      <a:endParaRPr lang="en-US" sz="1300" dirty="0">
                        <a:latin typeface="Schibsted Grotesk" charset="0"/>
                        <a:ea typeface="Schibsted Grotesk" charset="0"/>
                        <a:cs typeface="Schibsted Grotesk" charset="0"/>
                      </a:endParaRPr>
                    </a:p>
                  </a:txBody>
                  <a:tcPr marL="57785" marR="57785" marT="57785" marB="57785"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1820"/>
                        </a:lnSpc>
                        <a:buNone/>
                      </a:pPr>
                      <a:r>
                        <a:rPr lang="en-US" sz="1300" dirty="0">
                          <a:solidFill>
                            <a:srgbClr val="172033"/>
                          </a:solidFill>
                          <a:latin typeface="Schibsted Grotesk" pitchFamily="34" charset="0"/>
                          <a:ea typeface="Schibsted Grotesk" pitchFamily="34" charset="-122"/>
                          <a:cs typeface="Schibsted Grotesk" pitchFamily="34" charset="-120"/>
                        </a:rPr>
                        <a:t>Build v1</a:t>
                      </a:r>
                      <a:endParaRPr lang="en-US" sz="1300" dirty="0">
                        <a:latin typeface="Schibsted Grotesk" charset="0"/>
                        <a:ea typeface="Schibsted Grotesk" charset="0"/>
                        <a:cs typeface="Schibsted Grotesk" charset="0"/>
                      </a:endParaRPr>
                    </a:p>
                  </a:txBody>
                  <a:tcPr marL="57785" marR="57785" marT="57785" marB="57785"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r>
              <a:tr h="359304">
                <a:tc>
                  <a:txBody>
                    <a:bodyPr/>
                    <a:lstStyle/>
                    <a:p>
                      <a:pPr indent="0" marL="0">
                        <a:lnSpc>
                          <a:spcPts val="1820"/>
                        </a:lnSpc>
                        <a:buNone/>
                      </a:pPr>
                      <a:r>
                        <a:rPr lang="en-US" sz="1300" dirty="0">
                          <a:solidFill>
                            <a:srgbClr val="172033"/>
                          </a:solidFill>
                          <a:latin typeface="Schibsted Grotesk" pitchFamily="34" charset="0"/>
                          <a:ea typeface="Schibsted Grotesk" pitchFamily="34" charset="-122"/>
                          <a:cs typeface="Schibsted Grotesk" pitchFamily="34" charset="-120"/>
                        </a:rPr>
                        <a:t>Proposal and security-questionnaire drafts</a:t>
                      </a:r>
                      <a:endParaRPr lang="en-US" sz="1300" dirty="0">
                        <a:latin typeface="Schibsted Grotesk" charset="0"/>
                        <a:ea typeface="Schibsted Grotesk" charset="0"/>
                        <a:cs typeface="Schibsted Grotesk" charset="0"/>
                      </a:endParaRPr>
                    </a:p>
                  </a:txBody>
                  <a:tcPr marL="57785" marR="57785" marT="57785" marB="57785"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1820"/>
                        </a:lnSpc>
                        <a:buNone/>
                      </a:pPr>
                      <a:r>
                        <a:rPr lang="en-US" sz="1300" dirty="0">
                          <a:solidFill>
                            <a:srgbClr val="172033"/>
                          </a:solidFill>
                          <a:latin typeface="Schibsted Grotesk" pitchFamily="34" charset="0"/>
                          <a:ea typeface="Schibsted Grotesk" pitchFamily="34" charset="-122"/>
                          <a:cs typeface="Schibsted Grotesk" pitchFamily="34" charset="-120"/>
                        </a:rPr>
                        <a:t>RAG + generation</a:t>
                      </a:r>
                      <a:endParaRPr lang="en-US" sz="1300" dirty="0">
                        <a:latin typeface="Schibsted Grotesk" charset="0"/>
                        <a:ea typeface="Schibsted Grotesk" charset="0"/>
                        <a:cs typeface="Schibsted Grotesk" charset="0"/>
                      </a:endParaRPr>
                    </a:p>
                  </a:txBody>
                  <a:tcPr marL="57785" marR="57785" marT="57785" marB="57785"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algn="r" indent="0" marL="0">
                        <a:lnSpc>
                          <a:spcPts val="1820"/>
                        </a:lnSpc>
                        <a:buNone/>
                      </a:pPr>
                      <a:r>
                        <a:rPr lang="en-US" sz="1300" dirty="0">
                          <a:solidFill>
                            <a:srgbClr val="172033"/>
                          </a:solidFill>
                          <a:latin typeface="Schibsted Grotesk" pitchFamily="34" charset="0"/>
                          <a:ea typeface="Schibsted Grotesk" pitchFamily="34" charset="-122"/>
                          <a:cs typeface="Schibsted Grotesk" pitchFamily="34" charset="-120"/>
                        </a:rPr>
                        <a:t>8-12</a:t>
                      </a:r>
                      <a:endParaRPr lang="en-US" sz="1300" dirty="0">
                        <a:latin typeface="Schibsted Grotesk" charset="0"/>
                        <a:ea typeface="Schibsted Grotesk" charset="0"/>
                        <a:cs typeface="Schibsted Grotesk" charset="0"/>
                      </a:endParaRPr>
                    </a:p>
                  </a:txBody>
                  <a:tcPr marL="57785" marR="57785" marT="57785" marB="57785"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1820"/>
                        </a:lnSpc>
                        <a:buNone/>
                      </a:pPr>
                      <a:r>
                        <a:rPr lang="en-US" sz="1300" dirty="0">
                          <a:solidFill>
                            <a:srgbClr val="172033"/>
                          </a:solidFill>
                          <a:latin typeface="Schibsted Grotesk" pitchFamily="34" charset="0"/>
                          <a:ea typeface="Schibsted Grotesk" pitchFamily="34" charset="-122"/>
                          <a:cs typeface="Schibsted Grotesk" pitchFamily="34" charset="-120"/>
                        </a:rPr>
                        <a:t>Later (v2)</a:t>
                      </a:r>
                      <a:endParaRPr lang="en-US" sz="1300" dirty="0">
                        <a:latin typeface="Schibsted Grotesk" charset="0"/>
                        <a:ea typeface="Schibsted Grotesk" charset="0"/>
                        <a:cs typeface="Schibsted Grotesk" charset="0"/>
                      </a:endParaRPr>
                    </a:p>
                  </a:txBody>
                  <a:tcPr marL="57785" marR="57785" marT="57785" marB="57785"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r>
              <a:tr h="359304">
                <a:tc>
                  <a:txBody>
                    <a:bodyPr/>
                    <a:lstStyle/>
                    <a:p>
                      <a:pPr indent="0" marL="0">
                        <a:lnSpc>
                          <a:spcPts val="1820"/>
                        </a:lnSpc>
                        <a:buNone/>
                      </a:pPr>
                      <a:r>
                        <a:rPr lang="en-US" sz="1300" dirty="0">
                          <a:solidFill>
                            <a:srgbClr val="172033"/>
                          </a:solidFill>
                          <a:latin typeface="Schibsted Grotesk" pitchFamily="34" charset="0"/>
                          <a:ea typeface="Schibsted Grotesk" pitchFamily="34" charset="-122"/>
                          <a:cs typeface="Schibsted Grotesk" pitchFamily="34" charset="-120"/>
                        </a:rPr>
                        <a:t>Auto-record WhatsApp and FaceTime calls</a:t>
                      </a:r>
                      <a:endParaRPr lang="en-US" sz="1300" dirty="0">
                        <a:latin typeface="Schibsted Grotesk" charset="0"/>
                        <a:ea typeface="Schibsted Grotesk" charset="0"/>
                        <a:cs typeface="Schibsted Grotesk" charset="0"/>
                      </a:endParaRPr>
                    </a:p>
                  </a:txBody>
                  <a:tcPr marL="57785" marR="57785" marT="57785" marB="57785" anchor="t">
                    <a:lnL w="12700" cap="flat" cmpd="sng" algn="ctr">
                      <a:solidFill>
                        <a:srgbClr val="C3C4C6"/>
                      </a:solidFill>
                      <a:prstDash val="solid"/>
                      <a:round/>
                      <a:headEnd type="none" w="med" len="med"/>
                      <a:tailEnd type="none" w="med" len="med"/>
                    </a:lnL>
                    <a:lnR w="12700" cap="flat" cmpd="sng" algn="ctr">
                      <a:solidFill>
                        <a:srgbClr val="CABCBB"/>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ABCBB"/>
                      </a:solidFill>
                      <a:prstDash val="solid"/>
                      <a:round/>
                      <a:headEnd type="none" w="med" len="med"/>
                      <a:tailEnd type="none" w="med" len="med"/>
                    </a:lnB>
                    <a:solidFill>
                      <a:srgbClr val="FDECEA"/>
                    </a:solidFill>
                  </a:tcPr>
                </a:tc>
                <a:tc>
                  <a:txBody>
                    <a:bodyPr/>
                    <a:lstStyle/>
                    <a:p>
                      <a:pPr indent="0" marL="0">
                        <a:lnSpc>
                          <a:spcPts val="1820"/>
                        </a:lnSpc>
                        <a:buNone/>
                      </a:pPr>
                      <a:r>
                        <a:rPr lang="en-US" sz="1300" dirty="0">
                          <a:solidFill>
                            <a:srgbClr val="172033"/>
                          </a:solidFill>
                          <a:latin typeface="Schibsted Grotesk" pitchFamily="34" charset="0"/>
                          <a:ea typeface="Schibsted Grotesk" pitchFamily="34" charset="-122"/>
                          <a:cs typeface="Schibsted Grotesk" pitchFamily="34" charset="-120"/>
                        </a:rPr>
                        <a:t>Speech-to-text</a:t>
                      </a:r>
                      <a:endParaRPr lang="en-US" sz="1300" dirty="0">
                        <a:latin typeface="Schibsted Grotesk" charset="0"/>
                        <a:ea typeface="Schibsted Grotesk" charset="0"/>
                        <a:cs typeface="Schibsted Grotesk" charset="0"/>
                      </a:endParaRPr>
                    </a:p>
                  </a:txBody>
                  <a:tcPr marL="57785" marR="57785" marT="57785" marB="57785" anchor="t">
                    <a:lnL w="12700" cap="flat" cmpd="sng" algn="ctr">
                      <a:solidFill>
                        <a:srgbClr val="CABCBB"/>
                      </a:solidFill>
                      <a:prstDash val="solid"/>
                      <a:round/>
                      <a:headEnd type="none" w="med" len="med"/>
                      <a:tailEnd type="none" w="med" len="med"/>
                    </a:lnL>
                    <a:lnR w="12700" cap="flat" cmpd="sng" algn="ctr">
                      <a:solidFill>
                        <a:srgbClr val="CABCBB"/>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ABCBB"/>
                      </a:solidFill>
                      <a:prstDash val="solid"/>
                      <a:round/>
                      <a:headEnd type="none" w="med" len="med"/>
                      <a:tailEnd type="none" w="med" len="med"/>
                    </a:lnB>
                    <a:solidFill>
                      <a:srgbClr val="FDECEA"/>
                    </a:solidFill>
                  </a:tcPr>
                </a:tc>
                <a:tc>
                  <a:txBody>
                    <a:bodyPr/>
                    <a:lstStyle/>
                    <a:p>
                      <a:pPr algn="r" indent="0" marL="0">
                        <a:lnSpc>
                          <a:spcPts val="1820"/>
                        </a:lnSpc>
                        <a:buNone/>
                      </a:pPr>
                      <a:r>
                        <a:rPr lang="en-US" sz="1300" dirty="0">
                          <a:solidFill>
                            <a:srgbClr val="172033"/>
                          </a:solidFill>
                          <a:latin typeface="Schibsted Grotesk" pitchFamily="34" charset="0"/>
                          <a:ea typeface="Schibsted Grotesk" pitchFamily="34" charset="-122"/>
                          <a:cs typeface="Schibsted Grotesk" pitchFamily="34" charset="-120"/>
                        </a:rPr>
                        <a:t>4</a:t>
                      </a:r>
                      <a:endParaRPr lang="en-US" sz="1300" dirty="0">
                        <a:latin typeface="Schibsted Grotesk" charset="0"/>
                        <a:ea typeface="Schibsted Grotesk" charset="0"/>
                        <a:cs typeface="Schibsted Grotesk" charset="0"/>
                      </a:endParaRPr>
                    </a:p>
                  </a:txBody>
                  <a:tcPr marL="57785" marR="57785" marT="57785" marB="57785" anchor="t">
                    <a:lnL w="12700" cap="flat" cmpd="sng" algn="ctr">
                      <a:solidFill>
                        <a:srgbClr val="CABCBB"/>
                      </a:solidFill>
                      <a:prstDash val="solid"/>
                      <a:round/>
                      <a:headEnd type="none" w="med" len="med"/>
                      <a:tailEnd type="none" w="med" len="med"/>
                    </a:lnL>
                    <a:lnR w="12700" cap="flat" cmpd="sng" algn="ctr">
                      <a:solidFill>
                        <a:srgbClr val="CABCBB"/>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ABCBB"/>
                      </a:solidFill>
                      <a:prstDash val="solid"/>
                      <a:round/>
                      <a:headEnd type="none" w="med" len="med"/>
                      <a:tailEnd type="none" w="med" len="med"/>
                    </a:lnB>
                    <a:solidFill>
                      <a:srgbClr val="FDECEA"/>
                    </a:solidFill>
                  </a:tcPr>
                </a:tc>
                <a:tc>
                  <a:txBody>
                    <a:bodyPr/>
                    <a:lstStyle/>
                    <a:p>
                      <a:pPr indent="0" marL="0">
                        <a:lnSpc>
                          <a:spcPts val="1820"/>
                        </a:lnSpc>
                        <a:buNone/>
                      </a:pPr>
                      <a:r>
                        <a:rPr lang="en-US" sz="1300" dirty="0">
                          <a:solidFill>
                            <a:srgbClr val="172033"/>
                          </a:solidFill>
                          <a:latin typeface="Schibsted Grotesk" pitchFamily="34" charset="0"/>
                          <a:ea typeface="Schibsted Grotesk" pitchFamily="34" charset="-122"/>
                          <a:cs typeface="Schibsted Grotesk" pitchFamily="34" charset="-120"/>
                        </a:rPr>
                        <a:t>Not now: consent</a:t>
                      </a:r>
                      <a:endParaRPr lang="en-US" sz="1300" dirty="0">
                        <a:latin typeface="Schibsted Grotesk" charset="0"/>
                        <a:ea typeface="Schibsted Grotesk" charset="0"/>
                        <a:cs typeface="Schibsted Grotesk" charset="0"/>
                      </a:endParaRPr>
                    </a:p>
                  </a:txBody>
                  <a:tcPr marL="57785" marR="57785" marT="57785" marB="57785" anchor="t">
                    <a:lnL w="12700" cap="flat" cmpd="sng" algn="ctr">
                      <a:solidFill>
                        <a:srgbClr val="CABCBB"/>
                      </a:solidFill>
                      <a:prstDash val="solid"/>
                      <a:round/>
                      <a:headEnd type="none" w="med" len="med"/>
                      <a:tailEnd type="none" w="med" len="med"/>
                    </a:lnL>
                    <a:lnR w="12700" cap="flat" cmpd="sng" algn="ctr">
                      <a:solidFill>
                        <a:srgbClr val="CABCBB"/>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ABCBB"/>
                      </a:solidFill>
                      <a:prstDash val="solid"/>
                      <a:round/>
                      <a:headEnd type="none" w="med" len="med"/>
                      <a:tailEnd type="none" w="med" len="med"/>
                    </a:lnB>
                    <a:solidFill>
                      <a:srgbClr val="FDECEA"/>
                    </a:solidFill>
                  </a:tcPr>
                </a:tc>
              </a:tr>
              <a:tr h="359304">
                <a:tc>
                  <a:txBody>
                    <a:bodyPr/>
                    <a:lstStyle/>
                    <a:p>
                      <a:pPr indent="0" marL="0">
                        <a:lnSpc>
                          <a:spcPts val="1820"/>
                        </a:lnSpc>
                        <a:buNone/>
                      </a:pPr>
                      <a:r>
                        <a:rPr lang="en-US" sz="1300" dirty="0">
                          <a:solidFill>
                            <a:srgbClr val="172033"/>
                          </a:solidFill>
                          <a:latin typeface="Schibsted Grotesk" pitchFamily="34" charset="0"/>
                          <a:ea typeface="Schibsted Grotesk" pitchFamily="34" charset="-122"/>
                          <a:cs typeface="Schibsted Grotesk" pitchFamily="34" charset="-120"/>
                        </a:rPr>
                        <a:t>Agent that sends follow-ups by itself</a:t>
                      </a:r>
                      <a:endParaRPr lang="en-US" sz="1300" dirty="0">
                        <a:latin typeface="Schibsted Grotesk" charset="0"/>
                        <a:ea typeface="Schibsted Grotesk" charset="0"/>
                        <a:cs typeface="Schibsted Grotesk" charset="0"/>
                      </a:endParaRPr>
                    </a:p>
                  </a:txBody>
                  <a:tcPr marL="57785" marR="57785" marT="57785" marB="57785" anchor="t">
                    <a:lnL w="12700" cap="flat" cmpd="sng" algn="ctr">
                      <a:solidFill>
                        <a:srgbClr val="C3C4C6"/>
                      </a:solidFill>
                      <a:prstDash val="solid"/>
                      <a:round/>
                      <a:headEnd type="none" w="med" len="med"/>
                      <a:tailEnd type="none" w="med" len="med"/>
                    </a:lnL>
                    <a:lnR w="12700" cap="flat" cmpd="sng" algn="ctr">
                      <a:solidFill>
                        <a:srgbClr val="CABCBB"/>
                      </a:solidFill>
                      <a:prstDash val="solid"/>
                      <a:round/>
                      <a:headEnd type="none" w="med" len="med"/>
                      <a:tailEnd type="none" w="med" len="med"/>
                    </a:lnR>
                    <a:lnT w="12700" cap="flat" cmpd="sng" algn="ctr">
                      <a:solidFill>
                        <a:srgbClr val="CABCBB"/>
                      </a:solidFill>
                      <a:prstDash val="solid"/>
                      <a:round/>
                      <a:headEnd type="none" w="med" len="med"/>
                      <a:tailEnd type="none" w="med" len="med"/>
                    </a:lnT>
                    <a:lnB w="12700" cap="flat" cmpd="sng" algn="ctr">
                      <a:solidFill>
                        <a:srgbClr val="CABCBB"/>
                      </a:solidFill>
                      <a:prstDash val="solid"/>
                      <a:round/>
                      <a:headEnd type="none" w="med" len="med"/>
                      <a:tailEnd type="none" w="med" len="med"/>
                    </a:lnB>
                    <a:solidFill>
                      <a:srgbClr val="FDECEA"/>
                    </a:solidFill>
                  </a:tcPr>
                </a:tc>
                <a:tc>
                  <a:txBody>
                    <a:bodyPr/>
                    <a:lstStyle/>
                    <a:p>
                      <a:pPr indent="0" marL="0">
                        <a:lnSpc>
                          <a:spcPts val="1820"/>
                        </a:lnSpc>
                        <a:buNone/>
                      </a:pPr>
                      <a:r>
                        <a:rPr lang="en-US" sz="1300" dirty="0">
                          <a:solidFill>
                            <a:srgbClr val="172033"/>
                          </a:solidFill>
                          <a:latin typeface="Schibsted Grotesk" pitchFamily="34" charset="0"/>
                          <a:ea typeface="Schibsted Grotesk" pitchFamily="34" charset="-122"/>
                          <a:cs typeface="Schibsted Grotesk" pitchFamily="34" charset="-120"/>
                        </a:rPr>
                        <a:t>Agentic</a:t>
                      </a:r>
                      <a:endParaRPr lang="en-US" sz="1300" dirty="0">
                        <a:latin typeface="Schibsted Grotesk" charset="0"/>
                        <a:ea typeface="Schibsted Grotesk" charset="0"/>
                        <a:cs typeface="Schibsted Grotesk" charset="0"/>
                      </a:endParaRPr>
                    </a:p>
                  </a:txBody>
                  <a:tcPr marL="57785" marR="57785" marT="57785" marB="57785" anchor="t">
                    <a:lnL w="12700" cap="flat" cmpd="sng" algn="ctr">
                      <a:solidFill>
                        <a:srgbClr val="CABCBB"/>
                      </a:solidFill>
                      <a:prstDash val="solid"/>
                      <a:round/>
                      <a:headEnd type="none" w="med" len="med"/>
                      <a:tailEnd type="none" w="med" len="med"/>
                    </a:lnL>
                    <a:lnR w="12700" cap="flat" cmpd="sng" algn="ctr">
                      <a:solidFill>
                        <a:srgbClr val="CABCBB"/>
                      </a:solidFill>
                      <a:prstDash val="solid"/>
                      <a:round/>
                      <a:headEnd type="none" w="med" len="med"/>
                      <a:tailEnd type="none" w="med" len="med"/>
                    </a:lnR>
                    <a:lnT w="12700" cap="flat" cmpd="sng" algn="ctr">
                      <a:solidFill>
                        <a:srgbClr val="CABCBB"/>
                      </a:solidFill>
                      <a:prstDash val="solid"/>
                      <a:round/>
                      <a:headEnd type="none" w="med" len="med"/>
                      <a:tailEnd type="none" w="med" len="med"/>
                    </a:lnT>
                    <a:lnB w="12700" cap="flat" cmpd="sng" algn="ctr">
                      <a:solidFill>
                        <a:srgbClr val="CABCBB"/>
                      </a:solidFill>
                      <a:prstDash val="solid"/>
                      <a:round/>
                      <a:headEnd type="none" w="med" len="med"/>
                      <a:tailEnd type="none" w="med" len="med"/>
                    </a:lnB>
                    <a:solidFill>
                      <a:srgbClr val="FDECEA"/>
                    </a:solidFill>
                  </a:tcPr>
                </a:tc>
                <a:tc>
                  <a:txBody>
                    <a:bodyPr/>
                    <a:lstStyle/>
                    <a:p>
                      <a:pPr algn="r" indent="0" marL="0">
                        <a:lnSpc>
                          <a:spcPts val="1820"/>
                        </a:lnSpc>
                        <a:buNone/>
                      </a:pPr>
                      <a:r>
                        <a:rPr lang="en-US" sz="1300" dirty="0">
                          <a:solidFill>
                            <a:srgbClr val="172033"/>
                          </a:solidFill>
                          <a:latin typeface="Schibsted Grotesk" pitchFamily="34" charset="0"/>
                          <a:ea typeface="Schibsted Grotesk" pitchFamily="34" charset="-122"/>
                          <a:cs typeface="Schibsted Grotesk" pitchFamily="34" charset="-120"/>
                        </a:rPr>
                        <a:t>9</a:t>
                      </a:r>
                      <a:endParaRPr lang="en-US" sz="1300" dirty="0">
                        <a:latin typeface="Schibsted Grotesk" charset="0"/>
                        <a:ea typeface="Schibsted Grotesk" charset="0"/>
                        <a:cs typeface="Schibsted Grotesk" charset="0"/>
                      </a:endParaRPr>
                    </a:p>
                  </a:txBody>
                  <a:tcPr marL="57785" marR="57785" marT="57785" marB="57785" anchor="t">
                    <a:lnL w="12700" cap="flat" cmpd="sng" algn="ctr">
                      <a:solidFill>
                        <a:srgbClr val="CABCBB"/>
                      </a:solidFill>
                      <a:prstDash val="solid"/>
                      <a:round/>
                      <a:headEnd type="none" w="med" len="med"/>
                      <a:tailEnd type="none" w="med" len="med"/>
                    </a:lnL>
                    <a:lnR w="12700" cap="flat" cmpd="sng" algn="ctr">
                      <a:solidFill>
                        <a:srgbClr val="CABCBB"/>
                      </a:solidFill>
                      <a:prstDash val="solid"/>
                      <a:round/>
                      <a:headEnd type="none" w="med" len="med"/>
                      <a:tailEnd type="none" w="med" len="med"/>
                    </a:lnR>
                    <a:lnT w="12700" cap="flat" cmpd="sng" algn="ctr">
                      <a:solidFill>
                        <a:srgbClr val="CABCBB"/>
                      </a:solidFill>
                      <a:prstDash val="solid"/>
                      <a:round/>
                      <a:headEnd type="none" w="med" len="med"/>
                      <a:tailEnd type="none" w="med" len="med"/>
                    </a:lnT>
                    <a:lnB w="12700" cap="flat" cmpd="sng" algn="ctr">
                      <a:solidFill>
                        <a:srgbClr val="CABCBB"/>
                      </a:solidFill>
                      <a:prstDash val="solid"/>
                      <a:round/>
                      <a:headEnd type="none" w="med" len="med"/>
                      <a:tailEnd type="none" w="med" len="med"/>
                    </a:lnB>
                    <a:solidFill>
                      <a:srgbClr val="FDECEA"/>
                    </a:solidFill>
                  </a:tcPr>
                </a:tc>
                <a:tc>
                  <a:txBody>
                    <a:bodyPr/>
                    <a:lstStyle/>
                    <a:p>
                      <a:pPr indent="0" marL="0">
                        <a:lnSpc>
                          <a:spcPts val="1820"/>
                        </a:lnSpc>
                        <a:buNone/>
                      </a:pPr>
                      <a:r>
                        <a:rPr lang="en-US" sz="1300" dirty="0">
                          <a:solidFill>
                            <a:srgbClr val="172033"/>
                          </a:solidFill>
                          <a:latin typeface="Schibsted Grotesk" pitchFamily="34" charset="0"/>
                          <a:ea typeface="Schibsted Grotesk" pitchFamily="34" charset="-122"/>
                          <a:cs typeface="Schibsted Grotesk" pitchFamily="34" charset="-120"/>
                        </a:rPr>
                        <a:t>Rejected: risk</a:t>
                      </a:r>
                      <a:endParaRPr lang="en-US" sz="1300" dirty="0">
                        <a:latin typeface="Schibsted Grotesk" charset="0"/>
                        <a:ea typeface="Schibsted Grotesk" charset="0"/>
                        <a:cs typeface="Schibsted Grotesk" charset="0"/>
                      </a:endParaRPr>
                    </a:p>
                  </a:txBody>
                  <a:tcPr marL="57785" marR="57785" marT="57785" marB="57785" anchor="t">
                    <a:lnL w="12700" cap="flat" cmpd="sng" algn="ctr">
                      <a:solidFill>
                        <a:srgbClr val="CABCBB"/>
                      </a:solidFill>
                      <a:prstDash val="solid"/>
                      <a:round/>
                      <a:headEnd type="none" w="med" len="med"/>
                      <a:tailEnd type="none" w="med" len="med"/>
                    </a:lnL>
                    <a:lnR w="12700" cap="flat" cmpd="sng" algn="ctr">
                      <a:solidFill>
                        <a:srgbClr val="CABCBB"/>
                      </a:solidFill>
                      <a:prstDash val="solid"/>
                      <a:round/>
                      <a:headEnd type="none" w="med" len="med"/>
                      <a:tailEnd type="none" w="med" len="med"/>
                    </a:lnR>
                    <a:lnT w="12700" cap="flat" cmpd="sng" algn="ctr">
                      <a:solidFill>
                        <a:srgbClr val="CABCBB"/>
                      </a:solidFill>
                      <a:prstDash val="solid"/>
                      <a:round/>
                      <a:headEnd type="none" w="med" len="med"/>
                      <a:tailEnd type="none" w="med" len="med"/>
                    </a:lnT>
                    <a:lnB w="12700" cap="flat" cmpd="sng" algn="ctr">
                      <a:solidFill>
                        <a:srgbClr val="CABCBB"/>
                      </a:solidFill>
                      <a:prstDash val="solid"/>
                      <a:round/>
                      <a:headEnd type="none" w="med" len="med"/>
                      <a:tailEnd type="none" w="med" len="med"/>
                    </a:lnB>
                    <a:solidFill>
                      <a:srgbClr val="FDECEA"/>
                    </a:solidFill>
                  </a:tcPr>
                </a:tc>
              </a:tr>
            </a:tbl>
          </a:graphicData>
        </a:graphic>
      </p:graphicFrame>
      <p:sp>
        <p:nvSpPr>
          <p:cNvPr id="4" name="Text 1"/>
          <p:cNvSpPr/>
          <p:nvPr/>
        </p:nvSpPr>
        <p:spPr>
          <a:xfrm>
            <a:off x="10693400" y="6238280"/>
            <a:ext cx="685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487"/>
                </a:solidFill>
                <a:latin typeface="Schibsted Grotesk" pitchFamily="34" charset="0"/>
                <a:ea typeface="Schibsted Grotesk" pitchFamily="34" charset="-122"/>
                <a:cs typeface="Schibsted Grotesk" pitchFamily="34" charset="-120"/>
              </a:rPr>
              <a:t>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5F8"/>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72033"/>
                </a:solidFill>
                <a:latin typeface="Schibsted Grotesk" pitchFamily="34" charset="0"/>
                <a:ea typeface="Schibsted Grotesk" pitchFamily="34" charset="-122"/>
                <a:cs typeface="Schibsted Grotesk" pitchFamily="34" charset="-120"/>
              </a:rPr>
              <a:t>What Recall should do, and what it must never do</a:t>
            </a:r>
            <a:endParaRPr lang="en-US" sz="3200" dirty="0"/>
          </a:p>
        </p:txBody>
      </p:sp>
      <p:sp>
        <p:nvSpPr>
          <p:cNvPr id="3" name="Shape 1"/>
          <p:cNvSpPr/>
          <p:nvPr/>
        </p:nvSpPr>
        <p:spPr>
          <a:xfrm>
            <a:off x="812800" y="1539218"/>
            <a:ext cx="5156200" cy="2622550"/>
          </a:xfrm>
          <a:prstGeom prst="roundRect">
            <a:avLst>
              <a:gd name="adj" fmla="val 3874"/>
            </a:avLst>
          </a:prstGeom>
          <a:solidFill>
            <a:srgbClr val="E3F2EF"/>
          </a:solidFill>
          <a:ln/>
        </p:spPr>
      </p:sp>
      <p:sp>
        <p:nvSpPr>
          <p:cNvPr id="4" name="Text 2"/>
          <p:cNvSpPr/>
          <p:nvPr/>
        </p:nvSpPr>
        <p:spPr>
          <a:xfrm>
            <a:off x="1092200" y="1818618"/>
            <a:ext cx="4735322"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D6F63"/>
                </a:solidFill>
                <a:latin typeface="Schibsted Grotesk" pitchFamily="34" charset="0"/>
                <a:ea typeface="Schibsted Grotesk" pitchFamily="34" charset="-122"/>
                <a:cs typeface="Schibsted Grotesk" pitchFamily="34" charset="-120"/>
              </a:rPr>
              <a:t>Should</a:t>
            </a:r>
            <a:endParaRPr lang="en-US" sz="2000" dirty="0"/>
          </a:p>
        </p:txBody>
      </p:sp>
      <p:sp>
        <p:nvSpPr>
          <p:cNvPr id="5" name="Text 3"/>
          <p:cNvSpPr/>
          <p:nvPr/>
        </p:nvSpPr>
        <p:spPr>
          <a:xfrm>
            <a:off x="1169670" y="2225018"/>
            <a:ext cx="4650232" cy="1682750"/>
          </a:xfrm>
          <a:prstGeom prst="rect">
            <a:avLst/>
          </a:prstGeom>
          <a:noFill/>
          <a:ln/>
        </p:spPr>
        <p:txBody>
          <a:bodyPr wrap="square" lIns="0" tIns="0" rIns="0" bIns="0" rtlCol="0" anchor="t">
            <a:normAutofit/>
          </a:bodyPr>
          <a:lstStyle/>
          <a:p>
            <a:pPr algn="l" marL="176530" indent="-176530">
              <a:lnSpc>
                <a:spcPts val="2175"/>
              </a:lnSpc>
              <a:buSzPct val="100000"/>
              <a:buChar char="•"/>
            </a:pPr>
            <a:r>
              <a:rPr lang="en-US" sz="1500" dirty="0">
                <a:solidFill>
                  <a:srgbClr val="172033"/>
                </a:solidFill>
                <a:latin typeface="Schibsted Grotesk" pitchFamily="34" charset="0"/>
                <a:ea typeface="Schibsted Grotesk" pitchFamily="34" charset="-122"/>
                <a:cs typeface="Schibsted Grotesk" pitchFamily="34" charset="-120"/>
              </a:rPr>
              <a:t>Remember every ask, promise and date, with the exact words</a:t>
            </a:r>
            <a:endParaRPr lang="en-US" sz="1500" dirty="0"/>
          </a:p>
          <a:p>
            <a:pPr algn="l" marL="176530" indent="-176530">
              <a:lnSpc>
                <a:spcPts val="2175"/>
              </a:lnSpc>
              <a:buSzPct val="100000"/>
              <a:buChar char="•"/>
            </a:pPr>
            <a:r>
              <a:rPr lang="en-US" sz="1500" dirty="0">
                <a:solidFill>
                  <a:srgbClr val="172033"/>
                </a:solidFill>
                <a:latin typeface="Schibsted Grotesk" pitchFamily="34" charset="0"/>
                <a:ea typeface="Schibsted Grotesk" pitchFamily="34" charset="-122"/>
                <a:cs typeface="Schibsted Grotesk" pitchFamily="34" charset="-120"/>
              </a:rPr>
              <a:t>Tell each owner daily who is waiting and why</a:t>
            </a:r>
            <a:endParaRPr lang="en-US" sz="1500" dirty="0"/>
          </a:p>
          <a:p>
            <a:pPr algn="l" marL="176530" indent="-176530">
              <a:lnSpc>
                <a:spcPts val="2175"/>
              </a:lnSpc>
              <a:buSzPct val="100000"/>
              <a:buChar char="•"/>
            </a:pPr>
            <a:r>
              <a:rPr lang="en-US" sz="1500" dirty="0">
                <a:solidFill>
                  <a:srgbClr val="172033"/>
                </a:solidFill>
                <a:latin typeface="Schibsted Grotesk" pitchFamily="34" charset="0"/>
                <a:ea typeface="Schibsted Grotesk" pitchFamily="34" charset="-122"/>
                <a:cs typeface="Schibsted Grotesk" pitchFamily="34" charset="-120"/>
              </a:rPr>
              <a:t>Draft replies from facts in the thread only</a:t>
            </a:r>
            <a:endParaRPr lang="en-US" sz="1500" dirty="0"/>
          </a:p>
          <a:p>
            <a:pPr algn="l" marL="176530" indent="-176530">
              <a:lnSpc>
                <a:spcPts val="2175"/>
              </a:lnSpc>
              <a:buSzPct val="100000"/>
              <a:buChar char="•"/>
            </a:pPr>
            <a:r>
              <a:rPr lang="en-US" sz="1500" dirty="0">
                <a:solidFill>
                  <a:srgbClr val="172033"/>
                </a:solidFill>
                <a:latin typeface="Schibsted Grotesk" pitchFamily="34" charset="0"/>
                <a:ea typeface="Schibsted Grotesk" pitchFamily="34" charset="-122"/>
                <a:cs typeface="Schibsted Grotesk" pitchFamily="34" charset="-120"/>
              </a:rPr>
              <a:t>Propose CRM updates for a person to approve</a:t>
            </a:r>
            <a:endParaRPr lang="en-US" sz="1500" dirty="0"/>
          </a:p>
          <a:p>
            <a:pPr algn="l" marL="176530" indent="-176530">
              <a:lnSpc>
                <a:spcPts val="2175"/>
              </a:lnSpc>
              <a:buSzPct val="100000"/>
              <a:buChar char="•"/>
            </a:pPr>
            <a:r>
              <a:rPr lang="en-US" sz="1500" dirty="0">
                <a:solidFill>
                  <a:srgbClr val="172033"/>
                </a:solidFill>
                <a:latin typeface="Schibsted Grotesk" pitchFamily="34" charset="0"/>
                <a:ea typeface="Schibsted Grotesk" pitchFamily="34" charset="-122"/>
                <a:cs typeface="Schibsted Grotesk" pitchFamily="34" charset="-120"/>
              </a:rPr>
              <a:t>Say "I can't find that" instead of guessing</a:t>
            </a:r>
            <a:endParaRPr lang="en-US" sz="1500" dirty="0"/>
          </a:p>
        </p:txBody>
      </p:sp>
      <p:sp>
        <p:nvSpPr>
          <p:cNvPr id="6" name="Shape 4"/>
          <p:cNvSpPr/>
          <p:nvPr/>
        </p:nvSpPr>
        <p:spPr>
          <a:xfrm>
            <a:off x="6223000" y="1539218"/>
            <a:ext cx="5156200" cy="2622550"/>
          </a:xfrm>
          <a:prstGeom prst="roundRect">
            <a:avLst>
              <a:gd name="adj" fmla="val 3874"/>
            </a:avLst>
          </a:prstGeom>
          <a:solidFill>
            <a:srgbClr val="FDECEA"/>
          </a:solidFill>
          <a:ln/>
        </p:spPr>
      </p:sp>
      <p:sp>
        <p:nvSpPr>
          <p:cNvPr id="7" name="Text 5"/>
          <p:cNvSpPr/>
          <p:nvPr/>
        </p:nvSpPr>
        <p:spPr>
          <a:xfrm>
            <a:off x="6502400" y="1818618"/>
            <a:ext cx="4735322"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B42318"/>
                </a:solidFill>
                <a:latin typeface="Schibsted Grotesk" pitchFamily="34" charset="0"/>
                <a:ea typeface="Schibsted Grotesk" pitchFamily="34" charset="-122"/>
                <a:cs typeface="Schibsted Grotesk" pitchFamily="34" charset="-120"/>
              </a:rPr>
              <a:t>Must never</a:t>
            </a:r>
            <a:endParaRPr lang="en-US" sz="2000" dirty="0"/>
          </a:p>
        </p:txBody>
      </p:sp>
      <p:sp>
        <p:nvSpPr>
          <p:cNvPr id="8" name="Text 6"/>
          <p:cNvSpPr/>
          <p:nvPr/>
        </p:nvSpPr>
        <p:spPr>
          <a:xfrm>
            <a:off x="6579870" y="2225018"/>
            <a:ext cx="4650232" cy="1406525"/>
          </a:xfrm>
          <a:prstGeom prst="rect">
            <a:avLst/>
          </a:prstGeom>
          <a:noFill/>
          <a:ln/>
        </p:spPr>
        <p:txBody>
          <a:bodyPr wrap="square" lIns="0" tIns="0" rIns="0" bIns="0" rtlCol="0" anchor="t">
            <a:normAutofit/>
          </a:bodyPr>
          <a:lstStyle/>
          <a:p>
            <a:pPr algn="l" marL="176530" indent="-176530">
              <a:lnSpc>
                <a:spcPts val="2175"/>
              </a:lnSpc>
              <a:buSzPct val="100000"/>
              <a:buChar char="•"/>
            </a:pPr>
            <a:r>
              <a:rPr lang="en-US" sz="1500" dirty="0">
                <a:solidFill>
                  <a:srgbClr val="172033"/>
                </a:solidFill>
                <a:latin typeface="Schibsted Grotesk" pitchFamily="34" charset="0"/>
                <a:ea typeface="Schibsted Grotesk" pitchFamily="34" charset="-122"/>
                <a:cs typeface="Schibsted Grotesk" pitchFamily="34" charset="-120"/>
              </a:rPr>
              <a:t>Send anything to a client by itself</a:t>
            </a:r>
            <a:endParaRPr lang="en-US" sz="1500" dirty="0"/>
          </a:p>
          <a:p>
            <a:pPr algn="l" marL="176530" indent="-176530">
              <a:lnSpc>
                <a:spcPts val="2175"/>
              </a:lnSpc>
              <a:buSzPct val="100000"/>
              <a:buChar char="•"/>
            </a:pPr>
            <a:r>
              <a:rPr lang="en-US" sz="1500" dirty="0">
                <a:solidFill>
                  <a:srgbClr val="172033"/>
                </a:solidFill>
                <a:latin typeface="Schibsted Grotesk" pitchFamily="34" charset="0"/>
                <a:ea typeface="Schibsted Grotesk" pitchFamily="34" charset="-122"/>
                <a:cs typeface="Schibsted Grotesk" pitchFamily="34" charset="-120"/>
              </a:rPr>
              <a:t>Write to Kaizen without approval</a:t>
            </a:r>
            <a:endParaRPr lang="en-US" sz="1500" dirty="0"/>
          </a:p>
          <a:p>
            <a:pPr algn="l" marL="176530" indent="-176530">
              <a:lnSpc>
                <a:spcPts val="2175"/>
              </a:lnSpc>
              <a:buSzPct val="100000"/>
              <a:buChar char="•"/>
            </a:pPr>
            <a:r>
              <a:rPr lang="en-US" sz="1500" dirty="0">
                <a:solidFill>
                  <a:srgbClr val="172033"/>
                </a:solidFill>
                <a:latin typeface="Schibsted Grotesk" pitchFamily="34" charset="0"/>
                <a:ea typeface="Schibsted Grotesk" pitchFamily="34" charset="-122"/>
                <a:cs typeface="Schibsted Grotesk" pitchFamily="34" charset="-120"/>
              </a:rPr>
              <a:t>Invent prices, dates or technical answers</a:t>
            </a:r>
            <a:endParaRPr lang="en-US" sz="1500" dirty="0"/>
          </a:p>
          <a:p>
            <a:pPr algn="l" marL="176530" indent="-176530">
              <a:lnSpc>
                <a:spcPts val="2175"/>
              </a:lnSpc>
              <a:buSzPct val="100000"/>
              <a:buChar char="•"/>
            </a:pPr>
            <a:r>
              <a:rPr lang="en-US" sz="1500" dirty="0">
                <a:solidFill>
                  <a:srgbClr val="172033"/>
                </a:solidFill>
                <a:latin typeface="Schibsted Grotesk" pitchFamily="34" charset="0"/>
                <a:ea typeface="Schibsted Grotesk" pitchFamily="34" charset="-122"/>
                <a:cs typeface="Schibsted Grotesk" pitchFamily="34" charset="-120"/>
              </a:rPr>
              <a:t>Mark a deal Won before it is signed</a:t>
            </a:r>
            <a:endParaRPr lang="en-US" sz="1500" dirty="0"/>
          </a:p>
          <a:p>
            <a:pPr algn="l" marL="176530" indent="-176530">
              <a:lnSpc>
                <a:spcPts val="2175"/>
              </a:lnSpc>
              <a:buSzPct val="100000"/>
              <a:buChar char="•"/>
            </a:pPr>
            <a:r>
              <a:rPr lang="en-US" sz="1500" dirty="0">
                <a:solidFill>
                  <a:srgbClr val="172033"/>
                </a:solidFill>
                <a:latin typeface="Schibsted Grotesk" pitchFamily="34" charset="0"/>
                <a:ea typeface="Schibsted Grotesk" pitchFamily="34" charset="-122"/>
                <a:cs typeface="Schibsted Grotesk" pitchFamily="34" charset="-120"/>
              </a:rPr>
              <a:t>Record calls covertly, or replace Kaizen</a:t>
            </a:r>
            <a:endParaRPr lang="en-US" sz="1500" dirty="0"/>
          </a:p>
        </p:txBody>
      </p:sp>
      <p:sp>
        <p:nvSpPr>
          <p:cNvPr id="9" name="Text 7"/>
          <p:cNvSpPr/>
          <p:nvPr/>
        </p:nvSpPr>
        <p:spPr>
          <a:xfrm>
            <a:off x="10693400" y="6238280"/>
            <a:ext cx="685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487"/>
                </a:solidFill>
                <a:latin typeface="Schibsted Grotesk" pitchFamily="34" charset="0"/>
                <a:ea typeface="Schibsted Grotesk" pitchFamily="34" charset="-122"/>
                <a:cs typeface="Schibsted Grotesk" pitchFamily="34" charset="-120"/>
              </a:rPr>
              <a:t>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72033"/>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9810750" cy="1031214"/>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4F5F8"/>
                </a:solidFill>
                <a:latin typeface="Schibsted Grotesk" pitchFamily="34" charset="0"/>
                <a:ea typeface="Schibsted Grotesk" pitchFamily="34" charset="-122"/>
                <a:cs typeface="Schibsted Grotesk" pitchFamily="34" charset="-120"/>
              </a:rPr>
              <a:t>Recall remembers every conversation, so the founders don't have to</a:t>
            </a:r>
            <a:endParaRPr lang="en-US" sz="3600" dirty="0"/>
          </a:p>
        </p:txBody>
      </p:sp>
      <p:sp>
        <p:nvSpPr>
          <p:cNvPr id="3" name="Shape 1"/>
          <p:cNvSpPr/>
          <p:nvPr/>
        </p:nvSpPr>
        <p:spPr>
          <a:xfrm>
            <a:off x="812800" y="2174218"/>
            <a:ext cx="2508250" cy="2189361"/>
          </a:xfrm>
          <a:prstGeom prst="roundRect">
            <a:avLst>
              <a:gd name="adj" fmla="val 4641"/>
            </a:avLst>
          </a:prstGeom>
          <a:solidFill>
            <a:srgbClr val="22304A"/>
          </a:solidFill>
          <a:ln/>
        </p:spPr>
      </p:sp>
      <p:pic>
        <p:nvPicPr>
          <p:cNvPr id="4" name="Image 0" descr="Chat">    </p:cNvPr>
          <p:cNvPicPr>
            <a:picLocks noChangeAspect="1"/>
          </p:cNvPicPr>
          <p:nvPr/>
        </p:nvPicPr>
        <p:blipFill>
          <a:blip r:embed="rId1"/>
          <a:srcRect l="0" r="0" t="0" b="0"/>
          <a:stretch/>
        </p:blipFill>
        <p:spPr>
          <a:xfrm>
            <a:off x="1041400" y="2402818"/>
            <a:ext cx="355600" cy="355600"/>
          </a:xfrm>
          <a:prstGeom prst="rect">
            <a:avLst/>
          </a:prstGeom>
        </p:spPr>
      </p:pic>
      <p:sp>
        <p:nvSpPr>
          <p:cNvPr id="5" name="Text 2"/>
          <p:cNvSpPr/>
          <p:nvPr/>
        </p:nvSpPr>
        <p:spPr>
          <a:xfrm>
            <a:off x="1041400" y="2847318"/>
            <a:ext cx="2112582"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4F5F8"/>
                </a:solidFill>
                <a:latin typeface="Schibsted Grotesk" pitchFamily="34" charset="0"/>
                <a:ea typeface="Schibsted Grotesk" pitchFamily="34" charset="-122"/>
                <a:cs typeface="Schibsted Grotesk" pitchFamily="34" charset="-120"/>
              </a:rPr>
              <a:t>Capture</a:t>
            </a:r>
            <a:endParaRPr lang="en-US" sz="1800" dirty="0"/>
          </a:p>
        </p:txBody>
      </p:sp>
      <p:sp>
        <p:nvSpPr>
          <p:cNvPr id="6" name="Text 3"/>
          <p:cNvSpPr/>
          <p:nvPr/>
        </p:nvSpPr>
        <p:spPr>
          <a:xfrm>
            <a:off x="1041400" y="3210520"/>
            <a:ext cx="2112582" cy="94985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B8C2D6"/>
                </a:solidFill>
                <a:latin typeface="Schibsted Grotesk" pitchFamily="34" charset="0"/>
                <a:ea typeface="Schibsted Grotesk" pitchFamily="34" charset="-122"/>
                <a:cs typeface="Schibsted Grotesk" pitchFamily="34" charset="-120"/>
              </a:rPr>
              <a:t>Email, notes, WhatsApp, iMessage, Slack, call summaries, a 30-second voice memo</a:t>
            </a:r>
            <a:endParaRPr lang="en-US" sz="1300" dirty="0"/>
          </a:p>
        </p:txBody>
      </p:sp>
      <p:sp>
        <p:nvSpPr>
          <p:cNvPr id="7" name="Shape 4"/>
          <p:cNvSpPr/>
          <p:nvPr/>
        </p:nvSpPr>
        <p:spPr>
          <a:xfrm>
            <a:off x="3498850" y="2174218"/>
            <a:ext cx="2508250" cy="2189361"/>
          </a:xfrm>
          <a:prstGeom prst="roundRect">
            <a:avLst>
              <a:gd name="adj" fmla="val 4641"/>
            </a:avLst>
          </a:prstGeom>
          <a:solidFill>
            <a:srgbClr val="22304A"/>
          </a:solidFill>
          <a:ln/>
        </p:spPr>
      </p:sp>
      <p:pic>
        <p:nvPicPr>
          <p:cNvPr id="8" name="Image 1" descr="Search">    </p:cNvPr>
          <p:cNvPicPr>
            <a:picLocks noChangeAspect="1"/>
          </p:cNvPicPr>
          <p:nvPr/>
        </p:nvPicPr>
        <p:blipFill>
          <a:blip r:embed="rId2"/>
          <a:srcRect l="0" r="0" t="0" b="0"/>
          <a:stretch/>
        </p:blipFill>
        <p:spPr>
          <a:xfrm>
            <a:off x="3727450" y="2402818"/>
            <a:ext cx="355600" cy="355600"/>
          </a:xfrm>
          <a:prstGeom prst="rect">
            <a:avLst/>
          </a:prstGeom>
        </p:spPr>
      </p:pic>
      <p:sp>
        <p:nvSpPr>
          <p:cNvPr id="9" name="Text 5"/>
          <p:cNvSpPr/>
          <p:nvPr/>
        </p:nvSpPr>
        <p:spPr>
          <a:xfrm>
            <a:off x="3727450" y="2847318"/>
            <a:ext cx="2112582"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4F5F8"/>
                </a:solidFill>
                <a:latin typeface="Schibsted Grotesk" pitchFamily="34" charset="0"/>
                <a:ea typeface="Schibsted Grotesk" pitchFamily="34" charset="-122"/>
                <a:cs typeface="Schibsted Grotesk" pitchFamily="34" charset="-120"/>
              </a:rPr>
              <a:t>Remember</a:t>
            </a:r>
            <a:endParaRPr lang="en-US" sz="1800" dirty="0"/>
          </a:p>
        </p:txBody>
      </p:sp>
      <p:sp>
        <p:nvSpPr>
          <p:cNvPr id="10" name="Text 6"/>
          <p:cNvSpPr/>
          <p:nvPr/>
        </p:nvSpPr>
        <p:spPr>
          <a:xfrm>
            <a:off x="3727450" y="3210520"/>
            <a:ext cx="2112582" cy="94985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B8C2D6"/>
                </a:solidFill>
                <a:latin typeface="Schibsted Grotesk" pitchFamily="34" charset="0"/>
                <a:ea typeface="Schibsted Grotesk" pitchFamily="34" charset="-122"/>
                <a:cs typeface="Schibsted Grotesk" pitchFamily="34" charset="-120"/>
              </a:rPr>
              <a:t>AI pulls out asks, promises, dates, budget, competitors, with the exact quote</a:t>
            </a:r>
            <a:endParaRPr lang="en-US" sz="1300" dirty="0"/>
          </a:p>
        </p:txBody>
      </p:sp>
      <p:sp>
        <p:nvSpPr>
          <p:cNvPr id="11" name="Shape 7"/>
          <p:cNvSpPr/>
          <p:nvPr/>
        </p:nvSpPr>
        <p:spPr>
          <a:xfrm>
            <a:off x="6184900" y="2174218"/>
            <a:ext cx="2508250" cy="2189361"/>
          </a:xfrm>
          <a:prstGeom prst="roundRect">
            <a:avLst>
              <a:gd name="adj" fmla="val 4641"/>
            </a:avLst>
          </a:prstGeom>
          <a:solidFill>
            <a:srgbClr val="22304A"/>
          </a:solidFill>
          <a:ln/>
        </p:spPr>
      </p:sp>
      <p:pic>
        <p:nvPicPr>
          <p:cNvPr id="12" name="Image 2" descr="Clock">    </p:cNvPr>
          <p:cNvPicPr>
            <a:picLocks noChangeAspect="1"/>
          </p:cNvPicPr>
          <p:nvPr/>
        </p:nvPicPr>
        <p:blipFill>
          <a:blip r:embed="rId3"/>
          <a:srcRect l="0" r="0" t="0" b="0"/>
          <a:stretch/>
        </p:blipFill>
        <p:spPr>
          <a:xfrm>
            <a:off x="6413500" y="2402818"/>
            <a:ext cx="355600" cy="355600"/>
          </a:xfrm>
          <a:prstGeom prst="rect">
            <a:avLst/>
          </a:prstGeom>
        </p:spPr>
      </p:pic>
      <p:sp>
        <p:nvSpPr>
          <p:cNvPr id="13" name="Text 8"/>
          <p:cNvSpPr/>
          <p:nvPr/>
        </p:nvSpPr>
        <p:spPr>
          <a:xfrm>
            <a:off x="6413500" y="2847318"/>
            <a:ext cx="2112582"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4F5F8"/>
                </a:solidFill>
                <a:latin typeface="Schibsted Grotesk" pitchFamily="34" charset="0"/>
                <a:ea typeface="Schibsted Grotesk" pitchFamily="34" charset="-122"/>
                <a:cs typeface="Schibsted Grotesk" pitchFamily="34" charset="-120"/>
              </a:rPr>
              <a:t>Rank</a:t>
            </a:r>
            <a:endParaRPr lang="en-US" sz="1800" dirty="0"/>
          </a:p>
        </p:txBody>
      </p:sp>
      <p:sp>
        <p:nvSpPr>
          <p:cNvPr id="14" name="Text 9"/>
          <p:cNvSpPr/>
          <p:nvPr/>
        </p:nvSpPr>
        <p:spPr>
          <a:xfrm>
            <a:off x="6413500" y="3210520"/>
            <a:ext cx="2112582" cy="71874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B8C2D6"/>
                </a:solidFill>
                <a:latin typeface="Schibsted Grotesk" pitchFamily="34" charset="0"/>
                <a:ea typeface="Schibsted Grotesk" pitchFamily="34" charset="-122"/>
                <a:cs typeface="Schibsted Grotesk" pitchFamily="34" charset="-120"/>
              </a:rPr>
              <a:t>Who is waiting on you today, ordered by your own rules, with the reason</a:t>
            </a:r>
            <a:endParaRPr lang="en-US" sz="1300" dirty="0"/>
          </a:p>
        </p:txBody>
      </p:sp>
      <p:sp>
        <p:nvSpPr>
          <p:cNvPr id="15" name="Shape 10"/>
          <p:cNvSpPr/>
          <p:nvPr/>
        </p:nvSpPr>
        <p:spPr>
          <a:xfrm>
            <a:off x="8870950" y="2174218"/>
            <a:ext cx="2508250" cy="2189361"/>
          </a:xfrm>
          <a:prstGeom prst="roundRect">
            <a:avLst>
              <a:gd name="adj" fmla="val 4641"/>
            </a:avLst>
          </a:prstGeom>
          <a:solidFill>
            <a:srgbClr val="22304A"/>
          </a:solidFill>
          <a:ln/>
        </p:spPr>
      </p:sp>
      <p:pic>
        <p:nvPicPr>
          <p:cNvPr id="16" name="Image 3" descr="CheckCircle">    </p:cNvPr>
          <p:cNvPicPr>
            <a:picLocks noChangeAspect="1"/>
          </p:cNvPicPr>
          <p:nvPr/>
        </p:nvPicPr>
        <p:blipFill>
          <a:blip r:embed="rId4"/>
          <a:srcRect l="0" r="0" t="0" b="0"/>
          <a:stretch/>
        </p:blipFill>
        <p:spPr>
          <a:xfrm>
            <a:off x="9099550" y="2402818"/>
            <a:ext cx="355600" cy="355600"/>
          </a:xfrm>
          <a:prstGeom prst="rect">
            <a:avLst/>
          </a:prstGeom>
        </p:spPr>
      </p:pic>
      <p:sp>
        <p:nvSpPr>
          <p:cNvPr id="17" name="Text 11"/>
          <p:cNvSpPr/>
          <p:nvPr/>
        </p:nvSpPr>
        <p:spPr>
          <a:xfrm>
            <a:off x="9099550" y="2847318"/>
            <a:ext cx="2112582"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4F5F8"/>
                </a:solidFill>
                <a:latin typeface="Schibsted Grotesk" pitchFamily="34" charset="0"/>
                <a:ea typeface="Schibsted Grotesk" pitchFamily="34" charset="-122"/>
                <a:cs typeface="Schibsted Grotesk" pitchFamily="34" charset="-120"/>
              </a:rPr>
              <a:t>Act</a:t>
            </a:r>
            <a:endParaRPr lang="en-US" sz="1800" dirty="0"/>
          </a:p>
        </p:txBody>
      </p:sp>
      <p:sp>
        <p:nvSpPr>
          <p:cNvPr id="18" name="Text 12"/>
          <p:cNvSpPr/>
          <p:nvPr/>
        </p:nvSpPr>
        <p:spPr>
          <a:xfrm>
            <a:off x="9099550" y="3210520"/>
            <a:ext cx="2112582" cy="94985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B8C2D6"/>
                </a:solidFill>
                <a:latin typeface="Schibsted Grotesk" pitchFamily="34" charset="0"/>
                <a:ea typeface="Schibsted Grotesk" pitchFamily="34" charset="-122"/>
                <a:cs typeface="Schibsted Grotesk" pitchFamily="34" charset="-120"/>
              </a:rPr>
              <a:t>Draft the reply; approve CRM updates in one screen. You send, you approve</a:t>
            </a:r>
            <a:endParaRPr lang="en-US" sz="1300" dirty="0"/>
          </a:p>
        </p:txBody>
      </p:sp>
      <p:sp>
        <p:nvSpPr>
          <p:cNvPr id="19" name="Text 13"/>
          <p:cNvSpPr/>
          <p:nvPr/>
        </p:nvSpPr>
        <p:spPr>
          <a:xfrm>
            <a:off x="10693400" y="6238280"/>
            <a:ext cx="685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8C2D6"/>
                </a:solidFill>
                <a:latin typeface="Schibsted Grotesk" pitchFamily="34" charset="0"/>
                <a:ea typeface="Schibsted Grotesk" pitchFamily="34" charset="-122"/>
                <a:cs typeface="Schibsted Grotesk" pitchFamily="34" charset="-120"/>
              </a:rPr>
              <a:t>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5F8"/>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3662680" cy="807641"/>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172033"/>
                </a:solidFill>
                <a:latin typeface="Schibsted Grotesk" pitchFamily="34" charset="0"/>
                <a:ea typeface="Schibsted Grotesk" pitchFamily="34" charset="-122"/>
                <a:cs typeface="Schibsted Grotesk" pitchFamily="34" charset="-120"/>
              </a:rPr>
              <a:t>Today: who is waiting on you</a:t>
            </a:r>
            <a:endParaRPr lang="en-US" sz="2800" dirty="0"/>
          </a:p>
        </p:txBody>
      </p:sp>
      <p:sp>
        <p:nvSpPr>
          <p:cNvPr id="3" name="Text 1"/>
          <p:cNvSpPr/>
          <p:nvPr/>
        </p:nvSpPr>
        <p:spPr>
          <a:xfrm>
            <a:off x="812800" y="1772841"/>
            <a:ext cx="3662680" cy="798711"/>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4A5568"/>
                </a:solidFill>
                <a:latin typeface="Schibsted Grotesk" pitchFamily="34" charset="0"/>
                <a:ea typeface="Schibsted Grotesk" pitchFamily="34" charset="-122"/>
                <a:cs typeface="Schibsted Grotesk" pitchFamily="34" charset="-120"/>
              </a:rPr>
              <a:t>Every client with an open ask or promise, ranked. Each line shows the client's exact words and the source.</a:t>
            </a:r>
            <a:endParaRPr lang="en-US" sz="1400" dirty="0"/>
          </a:p>
        </p:txBody>
      </p:sp>
      <p:sp>
        <p:nvSpPr>
          <p:cNvPr id="4" name="Text 2"/>
          <p:cNvSpPr/>
          <p:nvPr/>
        </p:nvSpPr>
        <p:spPr>
          <a:xfrm>
            <a:off x="812800" y="2723952"/>
            <a:ext cx="3662680" cy="798711"/>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4A5568"/>
                </a:solidFill>
                <a:latin typeface="Schibsted Grotesk" pitchFamily="34" charset="0"/>
                <a:ea typeface="Schibsted Grotesk" pitchFamily="34" charset="-122"/>
                <a:cs typeface="Schibsted Grotesk" pitchFamily="34" charset="-120"/>
              </a:rPr>
              <a:t>The wait bar shows how long they've waited and where the deadline sits. "Why #1" opens the score.</a:t>
            </a:r>
            <a:endParaRPr lang="en-US" sz="1400" dirty="0"/>
          </a:p>
        </p:txBody>
      </p:sp>
      <p:sp>
        <p:nvSpPr>
          <p:cNvPr id="5" name="Text 3"/>
          <p:cNvSpPr/>
          <p:nvPr/>
        </p:nvSpPr>
        <p:spPr>
          <a:xfrm>
            <a:off x="812800" y="3675063"/>
            <a:ext cx="3662680" cy="540941"/>
          </a:xfrm>
          <a:prstGeom prst="rect">
            <a:avLst/>
          </a:prstGeom>
          <a:noFill/>
          <a:ln/>
        </p:spPr>
        <p:txBody>
          <a:bodyPr wrap="square" lIns="0" tIns="0" rIns="0" bIns="0" rtlCol="0" anchor="t">
            <a:normAutofit/>
          </a:bodyPr>
          <a:lstStyle/>
          <a:p>
            <a:pPr algn="l" indent="0" marL="0">
              <a:lnSpc>
                <a:spcPts val="2030"/>
              </a:lnSpc>
              <a:buNone/>
            </a:pPr>
            <a:r>
              <a:rPr lang="en-US" sz="1400" b="1" dirty="0">
                <a:solidFill>
                  <a:srgbClr val="172033"/>
                </a:solidFill>
                <a:latin typeface="Schibsted Grotesk" pitchFamily="34" charset="0"/>
                <a:ea typeface="Schibsted Grotesk" pitchFamily="34" charset="-122"/>
                <a:cs typeface="Schibsted Grotesk" pitchFamily="34" charset="-120"/>
              </a:rPr>
              <a:t>FinEdge ranks first</a:t>
            </a:r>
            <a:r>
              <a:rPr lang="en-US" sz="1400" dirty="0">
                <a:solidFill>
                  <a:srgbClr val="172033"/>
                </a:solidFill>
                <a:latin typeface="Schibsted Grotesk" pitchFamily="34" charset="0"/>
                <a:ea typeface="Schibsted Grotesk" pitchFamily="34" charset="-122"/>
                <a:cs typeface="Schibsted Grotesk" pitchFamily="34" charset="-120"/>
              </a:rPr>
              <a:t>: deadline passed, $95k, a referral.</a:t>
            </a:r>
            <a:endParaRPr lang="en-US" sz="1400" dirty="0"/>
          </a:p>
        </p:txBody>
      </p:sp>
      <p:sp>
        <p:nvSpPr>
          <p:cNvPr id="6" name="Shape 4"/>
          <p:cNvSpPr/>
          <p:nvPr/>
        </p:nvSpPr>
        <p:spPr>
          <a:xfrm>
            <a:off x="4724400" y="812800"/>
            <a:ext cx="6654800" cy="4159250"/>
          </a:xfrm>
          <a:prstGeom prst="roundRect">
            <a:avLst>
              <a:gd name="adj" fmla="val 1832"/>
            </a:avLst>
          </a:prstGeom>
          <a:solidFill>
            <a:srgbClr val="FBFBFC"/>
          </a:solidFill>
          <a:ln/>
        </p:spPr>
      </p:sp>
      <p:pic>
        <p:nvPicPr>
          <p:cNvPr id="7" name="Image 0" descr="Recall Today view: 33 clients waiting, FinEdge Bank ranked first with score breakdown">    </p:cNvPr>
          <p:cNvPicPr>
            <a:picLocks noChangeAspect="1"/>
          </p:cNvPicPr>
          <p:nvPr/>
        </p:nvPicPr>
        <p:blipFill>
          <a:blip r:embed="rId1"/>
          <a:srcRect l="-57" r="-57" t="0" b="0"/>
          <a:stretch/>
        </p:blipFill>
        <p:spPr>
          <a:xfrm>
            <a:off x="4730750" y="819150"/>
            <a:ext cx="6642100" cy="4146550"/>
          </a:xfrm>
          <a:prstGeom prst="roundRect">
            <a:avLst>
              <a:gd name="adj" fmla="val 1685"/>
            </a:avLst>
          </a:prstGeom>
        </p:spPr>
      </p:pic>
      <p:sp>
        <p:nvSpPr>
          <p:cNvPr id="8" name="Shape 5"/>
          <p:cNvSpPr/>
          <p:nvPr/>
        </p:nvSpPr>
        <p:spPr>
          <a:xfrm>
            <a:off x="4727575" y="815975"/>
            <a:ext cx="6648450" cy="4152900"/>
          </a:xfrm>
          <a:prstGeom prst="roundRect">
            <a:avLst>
              <a:gd name="adj" fmla="val 1758"/>
            </a:avLst>
          </a:prstGeom>
          <a:noFill/>
          <a:ln w="6350">
            <a:solidFill>
              <a:srgbClr val="DCE1E8"/>
            </a:solidFill>
            <a:prstDash val="solid"/>
          </a:ln>
        </p:spPr>
      </p:sp>
      <p:sp>
        <p:nvSpPr>
          <p:cNvPr id="9" name="Text 6"/>
          <p:cNvSpPr/>
          <p:nvPr/>
        </p:nvSpPr>
        <p:spPr>
          <a:xfrm>
            <a:off x="10693400" y="6238280"/>
            <a:ext cx="685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487"/>
                </a:solidFill>
                <a:latin typeface="Schibsted Grotesk" pitchFamily="34" charset="0"/>
                <a:ea typeface="Schibsted Grotesk" pitchFamily="34" charset="-122"/>
                <a:cs typeface="Schibsted Grotesk" pitchFamily="34" charset="-120"/>
              </a:rPr>
              <a:t>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5F8"/>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3662680" cy="807641"/>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172033"/>
                </a:solidFill>
                <a:latin typeface="Schibsted Grotesk" pitchFamily="34" charset="0"/>
                <a:ea typeface="Schibsted Grotesk" pitchFamily="34" charset="-122"/>
                <a:cs typeface="Schibsted Grotesk" pitchFamily="34" charset="-120"/>
              </a:rPr>
              <a:t>Capture: the on-the-go call, solved</a:t>
            </a:r>
            <a:endParaRPr lang="en-US" sz="2800" dirty="0"/>
          </a:p>
        </p:txBody>
      </p:sp>
      <p:sp>
        <p:nvSpPr>
          <p:cNvPr id="3" name="Text 1"/>
          <p:cNvSpPr/>
          <p:nvPr/>
        </p:nvSpPr>
        <p:spPr>
          <a:xfrm>
            <a:off x="812800" y="1772841"/>
            <a:ext cx="3662680" cy="798711"/>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4A5568"/>
                </a:solidFill>
                <a:latin typeface="Schibsted Grotesk" pitchFamily="34" charset="0"/>
                <a:ea typeface="Schibsted Grotesk" pitchFamily="34" charset="-122"/>
                <a:cs typeface="Schibsted Grotesk" pitchFamily="34" charset="-120"/>
              </a:rPr>
              <a:t>A voice memo after a WhatsApp call, an iMessage, a Slack referral: pulled in, read, and turned into dated items with quotes.</a:t>
            </a:r>
            <a:endParaRPr lang="en-US" sz="1400" dirty="0"/>
          </a:p>
        </p:txBody>
      </p:sp>
      <p:sp>
        <p:nvSpPr>
          <p:cNvPr id="4" name="Text 2"/>
          <p:cNvSpPr/>
          <p:nvPr/>
        </p:nvSpPr>
        <p:spPr>
          <a:xfrm>
            <a:off x="812800" y="2723952"/>
            <a:ext cx="3662680" cy="798711"/>
          </a:xfrm>
          <a:prstGeom prst="rect">
            <a:avLst/>
          </a:prstGeom>
          <a:noFill/>
          <a:ln/>
        </p:spPr>
        <p:txBody>
          <a:bodyPr wrap="square" lIns="0" tIns="0" rIns="0" bIns="0" rtlCol="0" anchor="t">
            <a:normAutofit/>
          </a:bodyPr>
          <a:lstStyle/>
          <a:p>
            <a:pPr algn="l" indent="0" marL="0">
              <a:lnSpc>
                <a:spcPts val="2030"/>
              </a:lnSpc>
              <a:buNone/>
            </a:pPr>
            <a:r>
              <a:rPr lang="en-US" sz="1400" b="1" dirty="0">
                <a:solidFill>
                  <a:srgbClr val="172033"/>
                </a:solidFill>
                <a:latin typeface="Schibsted Grotesk" pitchFamily="34" charset="0"/>
                <a:ea typeface="Schibsted Grotesk" pitchFamily="34" charset="-122"/>
                <a:cs typeface="Schibsted Grotesk" pitchFamily="34" charset="-120"/>
              </a:rPr>
              <a:t>Karandeep's drive-home memo</a:t>
            </a:r>
            <a:r>
              <a:rPr lang="en-US" sz="1400" dirty="0">
                <a:solidFill>
                  <a:srgbClr val="172033"/>
                </a:solidFill>
                <a:latin typeface="Schibsted Grotesk" pitchFamily="34" charset="0"/>
                <a:ea typeface="Schibsted Grotesk" pitchFamily="34" charset="-122"/>
                <a:cs typeface="Schibsted Grotesk" pitchFamily="34" charset="-120"/>
              </a:rPr>
              <a:t> moved VoltEnergy's TCO deadline to 14 July and logged LoopMart's budget.</a:t>
            </a:r>
            <a:endParaRPr lang="en-US" sz="1400" dirty="0"/>
          </a:p>
        </p:txBody>
      </p:sp>
      <p:sp>
        <p:nvSpPr>
          <p:cNvPr id="5" name="Shape 3"/>
          <p:cNvSpPr/>
          <p:nvPr/>
        </p:nvSpPr>
        <p:spPr>
          <a:xfrm>
            <a:off x="4724400" y="812800"/>
            <a:ext cx="6654800" cy="4159250"/>
          </a:xfrm>
          <a:prstGeom prst="roundRect">
            <a:avLst>
              <a:gd name="adj" fmla="val 1832"/>
            </a:avLst>
          </a:prstGeom>
          <a:solidFill>
            <a:srgbClr val="FBFBFC"/>
          </a:solidFill>
          <a:ln/>
        </p:spPr>
      </p:sp>
      <p:pic>
        <p:nvPicPr>
          <p:cNvPr id="6" name="Image 0" descr="Recall Capture view showing signals extracted from Slack, iMessage, WhatsApp, read.ai and voice memo items">    </p:cNvPr>
          <p:cNvPicPr>
            <a:picLocks noChangeAspect="1"/>
          </p:cNvPicPr>
          <p:nvPr/>
        </p:nvPicPr>
        <p:blipFill>
          <a:blip r:embed="rId1"/>
          <a:srcRect l="-57" r="-57" t="0" b="0"/>
          <a:stretch/>
        </p:blipFill>
        <p:spPr>
          <a:xfrm>
            <a:off x="4730750" y="819150"/>
            <a:ext cx="6642100" cy="4146550"/>
          </a:xfrm>
          <a:prstGeom prst="roundRect">
            <a:avLst>
              <a:gd name="adj" fmla="val 1685"/>
            </a:avLst>
          </a:prstGeom>
        </p:spPr>
      </p:pic>
      <p:sp>
        <p:nvSpPr>
          <p:cNvPr id="7" name="Shape 4"/>
          <p:cNvSpPr/>
          <p:nvPr/>
        </p:nvSpPr>
        <p:spPr>
          <a:xfrm>
            <a:off x="4727575" y="815975"/>
            <a:ext cx="6648450" cy="4152900"/>
          </a:xfrm>
          <a:prstGeom prst="roundRect">
            <a:avLst>
              <a:gd name="adj" fmla="val 1758"/>
            </a:avLst>
          </a:prstGeom>
          <a:noFill/>
          <a:ln w="6350">
            <a:solidFill>
              <a:srgbClr val="DCE1E8"/>
            </a:solidFill>
            <a:prstDash val="solid"/>
          </a:ln>
        </p:spPr>
      </p:sp>
      <p:sp>
        <p:nvSpPr>
          <p:cNvPr id="8" name="Text 5"/>
          <p:cNvSpPr/>
          <p:nvPr/>
        </p:nvSpPr>
        <p:spPr>
          <a:xfrm>
            <a:off x="10693400" y="6238280"/>
            <a:ext cx="685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487"/>
                </a:solidFill>
                <a:latin typeface="Schibsted Grotesk" pitchFamily="34" charset="0"/>
                <a:ea typeface="Schibsted Grotesk" pitchFamily="34" charset="-122"/>
                <a:cs typeface="Schibsted Grotesk" pitchFamily="34" charset="-120"/>
              </a:rPr>
              <a:t>12</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F5F8"/>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3662680" cy="807641"/>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172033"/>
                </a:solidFill>
                <a:latin typeface="Schibsted Grotesk" pitchFamily="34" charset="0"/>
                <a:ea typeface="Schibsted Grotesk" pitchFamily="34" charset="-122"/>
                <a:cs typeface="Schibsted Grotesk" pitchFamily="34" charset="-120"/>
              </a:rPr>
              <a:t>CRM sync: Kaizen kept honest</a:t>
            </a:r>
            <a:endParaRPr lang="en-US" sz="2800" dirty="0"/>
          </a:p>
        </p:txBody>
      </p:sp>
      <p:sp>
        <p:nvSpPr>
          <p:cNvPr id="3" name="Text 1"/>
          <p:cNvSpPr/>
          <p:nvPr/>
        </p:nvSpPr>
        <p:spPr>
          <a:xfrm>
            <a:off x="812800" y="1772841"/>
            <a:ext cx="3662680" cy="1056481"/>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4A5568"/>
                </a:solidFill>
                <a:latin typeface="Schibsted Grotesk" pitchFamily="34" charset="0"/>
                <a:ea typeface="Schibsted Grotesk" pitchFamily="34" charset="-122"/>
                <a:cs typeface="Schibsted Grotesk" pitchFamily="34" charset="-120"/>
              </a:rPr>
              <a:t>Every suggested change shows old value, new value, the reason and the client's words. Nothing is written until a person approves.</a:t>
            </a:r>
            <a:endParaRPr lang="en-US" sz="1400" dirty="0"/>
          </a:p>
        </p:txBody>
      </p:sp>
      <p:sp>
        <p:nvSpPr>
          <p:cNvPr id="4" name="Text 2"/>
          <p:cNvSpPr/>
          <p:nvPr/>
        </p:nvSpPr>
        <p:spPr>
          <a:xfrm>
            <a:off x="812800" y="2981722"/>
            <a:ext cx="3662680" cy="798711"/>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172033"/>
                </a:solidFill>
                <a:latin typeface="Schibsted Grotesk" pitchFamily="34" charset="0"/>
                <a:ea typeface="Schibsted Grotesk" pitchFamily="34" charset="-122"/>
                <a:cs typeface="Schibsted Grotesk" pitchFamily="34" charset="-120"/>
              </a:rPr>
              <a:t>CRM up to date: </a:t>
            </a:r>
            <a:r>
              <a:rPr lang="en-US" sz="1400" b="1" dirty="0">
                <a:solidFill>
                  <a:srgbClr val="172033"/>
                </a:solidFill>
                <a:latin typeface="Schibsted Grotesk" pitchFamily="34" charset="0"/>
                <a:ea typeface="Schibsted Grotesk" pitchFamily="34" charset="-122"/>
                <a:cs typeface="Schibsted Grotesk" pitchFamily="34" charset="-120"/>
              </a:rPr>
              <a:t>0% today, 97%</a:t>
            </a:r>
            <a:r>
              <a:rPr lang="en-US" sz="1400" dirty="0">
                <a:solidFill>
                  <a:srgbClr val="172033"/>
                </a:solidFill>
                <a:latin typeface="Schibsted Grotesk" pitchFamily="34" charset="0"/>
                <a:ea typeface="Schibsted Grotesk" pitchFamily="34" charset="-122"/>
                <a:cs typeface="Schibsted Grotesk" pitchFamily="34" charset="-120"/>
              </a:rPr>
              <a:t> after approving the suggestions. Plus 6 missing leads, 2 duplicates and 8 cross-sells.</a:t>
            </a:r>
            <a:endParaRPr lang="en-US" sz="1400" dirty="0"/>
          </a:p>
        </p:txBody>
      </p:sp>
      <p:sp>
        <p:nvSpPr>
          <p:cNvPr id="5" name="Shape 3"/>
          <p:cNvSpPr/>
          <p:nvPr/>
        </p:nvSpPr>
        <p:spPr>
          <a:xfrm>
            <a:off x="4724400" y="812800"/>
            <a:ext cx="6654800" cy="4159250"/>
          </a:xfrm>
          <a:prstGeom prst="roundRect">
            <a:avLst>
              <a:gd name="adj" fmla="val 1832"/>
            </a:avLst>
          </a:prstGeom>
          <a:solidFill>
            <a:srgbClr val="FBFBFC"/>
          </a:solidFill>
          <a:ln/>
        </p:spPr>
      </p:sp>
      <p:pic>
        <p:nvPicPr>
          <p:cNvPr id="6" name="Image 0" descr="Recall CRM sync view: unlogged opportunities and field updates for Kaveri Textiles with evidence">    </p:cNvPr>
          <p:cNvPicPr>
            <a:picLocks noChangeAspect="1"/>
          </p:cNvPicPr>
          <p:nvPr/>
        </p:nvPicPr>
        <p:blipFill>
          <a:blip r:embed="rId1"/>
          <a:srcRect l="-57" r="-57" t="0" b="0"/>
          <a:stretch/>
        </p:blipFill>
        <p:spPr>
          <a:xfrm>
            <a:off x="4730750" y="819150"/>
            <a:ext cx="6642100" cy="4146550"/>
          </a:xfrm>
          <a:prstGeom prst="roundRect">
            <a:avLst>
              <a:gd name="adj" fmla="val 1685"/>
            </a:avLst>
          </a:prstGeom>
        </p:spPr>
      </p:pic>
      <p:sp>
        <p:nvSpPr>
          <p:cNvPr id="7" name="Shape 4"/>
          <p:cNvSpPr/>
          <p:nvPr/>
        </p:nvSpPr>
        <p:spPr>
          <a:xfrm>
            <a:off x="4727575" y="815975"/>
            <a:ext cx="6648450" cy="4152900"/>
          </a:xfrm>
          <a:prstGeom prst="roundRect">
            <a:avLst>
              <a:gd name="adj" fmla="val 1758"/>
            </a:avLst>
          </a:prstGeom>
          <a:noFill/>
          <a:ln w="6350">
            <a:solidFill>
              <a:srgbClr val="DCE1E8"/>
            </a:solidFill>
            <a:prstDash val="solid"/>
          </a:ln>
        </p:spPr>
      </p:sp>
      <p:sp>
        <p:nvSpPr>
          <p:cNvPr id="8" name="Text 5"/>
          <p:cNvSpPr/>
          <p:nvPr/>
        </p:nvSpPr>
        <p:spPr>
          <a:xfrm>
            <a:off x="10693400" y="6238280"/>
            <a:ext cx="685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487"/>
                </a:solidFill>
                <a:latin typeface="Schibsted Grotesk" pitchFamily="34" charset="0"/>
                <a:ea typeface="Schibsted Grotesk" pitchFamily="34" charset="-122"/>
                <a:cs typeface="Schibsted Grotesk" pitchFamily="34" charset="-120"/>
              </a:rPr>
              <a:t>13</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4F5F8"/>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72033"/>
                </a:solidFill>
                <a:latin typeface="Schibsted Grotesk" pitchFamily="34" charset="0"/>
                <a:ea typeface="Schibsted Grotesk" pitchFamily="34" charset="-122"/>
                <a:cs typeface="Schibsted Grotesk" pitchFamily="34" charset="-120"/>
              </a:rPr>
              <a:t>The ranking is your gut, written down</a:t>
            </a:r>
            <a:endParaRPr lang="en-US" sz="3200" dirty="0"/>
          </a:p>
        </p:txBody>
      </p:sp>
      <p:sp>
        <p:nvSpPr>
          <p:cNvPr id="3" name="Shape 1"/>
          <p:cNvSpPr/>
          <p:nvPr/>
        </p:nvSpPr>
        <p:spPr>
          <a:xfrm>
            <a:off x="815975" y="1542393"/>
            <a:ext cx="2501900" cy="1800291"/>
          </a:xfrm>
          <a:prstGeom prst="roundRect">
            <a:avLst>
              <a:gd name="adj" fmla="val 5467"/>
            </a:avLst>
          </a:prstGeom>
          <a:solidFill>
            <a:srgbClr val="FBFBFC"/>
          </a:solidFill>
          <a:ln w="6350">
            <a:solidFill>
              <a:srgbClr val="DCE1E8"/>
            </a:solidFill>
            <a:prstDash val="solid"/>
          </a:ln>
        </p:spPr>
      </p:sp>
      <p:sp>
        <p:nvSpPr>
          <p:cNvPr id="4" name="Text 2"/>
          <p:cNvSpPr/>
          <p:nvPr/>
        </p:nvSpPr>
        <p:spPr>
          <a:xfrm>
            <a:off x="1045633" y="1772047"/>
            <a:ext cx="2103861" cy="482600"/>
          </a:xfrm>
          <a:prstGeom prst="rect">
            <a:avLst/>
          </a:prstGeom>
          <a:noFill/>
          <a:ln/>
        </p:spPr>
        <p:txBody>
          <a:bodyPr wrap="square" lIns="0" tIns="0" rIns="0" bIns="0" rtlCol="0" anchor="t">
            <a:normAutofit/>
          </a:bodyPr>
          <a:lstStyle/>
          <a:p>
            <a:pPr algn="l" indent="0" marL="0">
              <a:lnSpc>
                <a:spcPts val="3600"/>
              </a:lnSpc>
              <a:buNone/>
            </a:pPr>
            <a:r>
              <a:rPr lang="en-US" sz="3600" dirty="0">
                <a:solidFill>
                  <a:srgbClr val="2F4BA8"/>
                </a:solidFill>
                <a:latin typeface="Schibsted Grotesk" pitchFamily="34" charset="0"/>
                <a:ea typeface="Schibsted Grotesk" pitchFamily="34" charset="-122"/>
                <a:cs typeface="Schibsted Grotesk" pitchFamily="34" charset="-120"/>
              </a:rPr>
              <a:t>40</a:t>
            </a:r>
            <a:endParaRPr lang="en-US" sz="3600" dirty="0"/>
          </a:p>
        </p:txBody>
      </p:sp>
      <p:sp>
        <p:nvSpPr>
          <p:cNvPr id="5" name="Text 3"/>
          <p:cNvSpPr/>
          <p:nvPr/>
        </p:nvSpPr>
        <p:spPr>
          <a:xfrm>
            <a:off x="1045633" y="2229247"/>
            <a:ext cx="2103861"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72033"/>
                </a:solidFill>
                <a:latin typeface="Schibsted Grotesk" pitchFamily="34" charset="0"/>
                <a:ea typeface="Schibsted Grotesk" pitchFamily="34" charset="-122"/>
                <a:cs typeface="Schibsted Grotesk" pitchFamily="34" charset="-120"/>
              </a:rPr>
              <a:t>Urgency</a:t>
            </a:r>
            <a:endParaRPr lang="en-US" sz="1600" dirty="0"/>
          </a:p>
        </p:txBody>
      </p:sp>
      <p:sp>
        <p:nvSpPr>
          <p:cNvPr id="6" name="Text 4"/>
          <p:cNvSpPr/>
          <p:nvPr/>
        </p:nvSpPr>
        <p:spPr>
          <a:xfrm>
            <a:off x="1045633" y="2473065"/>
            <a:ext cx="2103861"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Schibsted Grotesk" pitchFamily="34" charset="0"/>
                <a:ea typeface="Schibsted Grotesk" pitchFamily="34" charset="-122"/>
                <a:cs typeface="Schibsted Grotesk" pitchFamily="34" charset="-120"/>
              </a:rPr>
              <a:t>Client deadlines, days waiting, promises due</a:t>
            </a:r>
            <a:endParaRPr lang="en-US" sz="1200" dirty="0"/>
          </a:p>
        </p:txBody>
      </p:sp>
      <p:sp>
        <p:nvSpPr>
          <p:cNvPr id="7" name="Shape 5"/>
          <p:cNvSpPr/>
          <p:nvPr/>
        </p:nvSpPr>
        <p:spPr>
          <a:xfrm>
            <a:off x="3502025" y="1542393"/>
            <a:ext cx="2501900" cy="1800291"/>
          </a:xfrm>
          <a:prstGeom prst="roundRect">
            <a:avLst>
              <a:gd name="adj" fmla="val 5467"/>
            </a:avLst>
          </a:prstGeom>
          <a:solidFill>
            <a:srgbClr val="FBFBFC"/>
          </a:solidFill>
          <a:ln w="6350">
            <a:solidFill>
              <a:srgbClr val="DCE1E8"/>
            </a:solidFill>
            <a:prstDash val="solid"/>
          </a:ln>
        </p:spPr>
      </p:sp>
      <p:sp>
        <p:nvSpPr>
          <p:cNvPr id="8" name="Text 6"/>
          <p:cNvSpPr/>
          <p:nvPr/>
        </p:nvSpPr>
        <p:spPr>
          <a:xfrm>
            <a:off x="3731683" y="1772047"/>
            <a:ext cx="2103861" cy="482600"/>
          </a:xfrm>
          <a:prstGeom prst="rect">
            <a:avLst/>
          </a:prstGeom>
          <a:noFill/>
          <a:ln/>
        </p:spPr>
        <p:txBody>
          <a:bodyPr wrap="square" lIns="0" tIns="0" rIns="0" bIns="0" rtlCol="0" anchor="t">
            <a:normAutofit/>
          </a:bodyPr>
          <a:lstStyle/>
          <a:p>
            <a:pPr algn="l" indent="0" marL="0">
              <a:lnSpc>
                <a:spcPts val="3600"/>
              </a:lnSpc>
              <a:buNone/>
            </a:pPr>
            <a:r>
              <a:rPr lang="en-US" sz="3600" dirty="0">
                <a:solidFill>
                  <a:srgbClr val="2F4BA8"/>
                </a:solidFill>
                <a:latin typeface="Schibsted Grotesk" pitchFamily="34" charset="0"/>
                <a:ea typeface="Schibsted Grotesk" pitchFamily="34" charset="-122"/>
                <a:cs typeface="Schibsted Grotesk" pitchFamily="34" charset="-120"/>
              </a:rPr>
              <a:t>30</a:t>
            </a:r>
            <a:endParaRPr lang="en-US" sz="3600" dirty="0"/>
          </a:p>
        </p:txBody>
      </p:sp>
      <p:sp>
        <p:nvSpPr>
          <p:cNvPr id="9" name="Text 7"/>
          <p:cNvSpPr/>
          <p:nvPr/>
        </p:nvSpPr>
        <p:spPr>
          <a:xfrm>
            <a:off x="3731683" y="2229247"/>
            <a:ext cx="2103861"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72033"/>
                </a:solidFill>
                <a:latin typeface="Schibsted Grotesk" pitchFamily="34" charset="0"/>
                <a:ea typeface="Schibsted Grotesk" pitchFamily="34" charset="-122"/>
                <a:cs typeface="Schibsted Grotesk" pitchFamily="34" charset="-120"/>
              </a:rPr>
              <a:t>Deal value</a:t>
            </a:r>
            <a:endParaRPr lang="en-US" sz="1600" dirty="0"/>
          </a:p>
        </p:txBody>
      </p:sp>
      <p:sp>
        <p:nvSpPr>
          <p:cNvPr id="10" name="Text 8"/>
          <p:cNvSpPr/>
          <p:nvPr/>
        </p:nvSpPr>
        <p:spPr>
          <a:xfrm>
            <a:off x="3731683" y="2473065"/>
            <a:ext cx="2103861"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Schibsted Grotesk" pitchFamily="34" charset="0"/>
                <a:ea typeface="Schibsted Grotesk" pitchFamily="34" charset="-122"/>
                <a:cs typeface="Schibsted Grotesk" pitchFamily="34" charset="-120"/>
              </a:rPr>
              <a:t>Linear to $100k; a bigger deal can outrank a sooner one</a:t>
            </a:r>
            <a:endParaRPr lang="en-US" sz="1200" dirty="0"/>
          </a:p>
        </p:txBody>
      </p:sp>
      <p:sp>
        <p:nvSpPr>
          <p:cNvPr id="11" name="Shape 9"/>
          <p:cNvSpPr/>
          <p:nvPr/>
        </p:nvSpPr>
        <p:spPr>
          <a:xfrm>
            <a:off x="6188075" y="1542393"/>
            <a:ext cx="2501900" cy="1800291"/>
          </a:xfrm>
          <a:prstGeom prst="roundRect">
            <a:avLst>
              <a:gd name="adj" fmla="val 5467"/>
            </a:avLst>
          </a:prstGeom>
          <a:solidFill>
            <a:srgbClr val="FBFBFC"/>
          </a:solidFill>
          <a:ln w="6350">
            <a:solidFill>
              <a:srgbClr val="DCE1E8"/>
            </a:solidFill>
            <a:prstDash val="solid"/>
          </a:ln>
        </p:spPr>
      </p:sp>
      <p:sp>
        <p:nvSpPr>
          <p:cNvPr id="12" name="Text 10"/>
          <p:cNvSpPr/>
          <p:nvPr/>
        </p:nvSpPr>
        <p:spPr>
          <a:xfrm>
            <a:off x="6417733" y="1772047"/>
            <a:ext cx="2103861" cy="482600"/>
          </a:xfrm>
          <a:prstGeom prst="rect">
            <a:avLst/>
          </a:prstGeom>
          <a:noFill/>
          <a:ln/>
        </p:spPr>
        <p:txBody>
          <a:bodyPr wrap="square" lIns="0" tIns="0" rIns="0" bIns="0" rtlCol="0" anchor="t">
            <a:normAutofit/>
          </a:bodyPr>
          <a:lstStyle/>
          <a:p>
            <a:pPr algn="l" indent="0" marL="0">
              <a:lnSpc>
                <a:spcPts val="3600"/>
              </a:lnSpc>
              <a:buNone/>
            </a:pPr>
            <a:r>
              <a:rPr lang="en-US" sz="3600" dirty="0">
                <a:solidFill>
                  <a:srgbClr val="2F4BA8"/>
                </a:solidFill>
                <a:latin typeface="Schibsted Grotesk" pitchFamily="34" charset="0"/>
                <a:ea typeface="Schibsted Grotesk" pitchFamily="34" charset="-122"/>
                <a:cs typeface="Schibsted Grotesk" pitchFamily="34" charset="-120"/>
              </a:rPr>
              <a:t>15</a:t>
            </a:r>
            <a:endParaRPr lang="en-US" sz="3600" dirty="0"/>
          </a:p>
        </p:txBody>
      </p:sp>
      <p:sp>
        <p:nvSpPr>
          <p:cNvPr id="13" name="Text 11"/>
          <p:cNvSpPr/>
          <p:nvPr/>
        </p:nvSpPr>
        <p:spPr>
          <a:xfrm>
            <a:off x="6417733" y="2229247"/>
            <a:ext cx="2103861"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72033"/>
                </a:solidFill>
                <a:latin typeface="Schibsted Grotesk" pitchFamily="34" charset="0"/>
                <a:ea typeface="Schibsted Grotesk" pitchFamily="34" charset="-122"/>
                <a:cs typeface="Schibsted Grotesk" pitchFamily="34" charset="-120"/>
              </a:rPr>
              <a:t>Competition</a:t>
            </a:r>
            <a:endParaRPr lang="en-US" sz="1600" dirty="0"/>
          </a:p>
        </p:txBody>
      </p:sp>
      <p:sp>
        <p:nvSpPr>
          <p:cNvPr id="14" name="Text 12"/>
          <p:cNvSpPr/>
          <p:nvPr/>
        </p:nvSpPr>
        <p:spPr>
          <a:xfrm>
            <a:off x="6417733" y="2473065"/>
            <a:ext cx="2103861"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Schibsted Grotesk" pitchFamily="34" charset="0"/>
                <a:ea typeface="Schibsted Grotesk" pitchFamily="34" charset="-122"/>
                <a:cs typeface="Schibsted Grotesk" pitchFamily="34" charset="-120"/>
              </a:rPr>
              <a:t>Close rival: act fast. Far cheaper rival: stop chasing</a:t>
            </a:r>
            <a:endParaRPr lang="en-US" sz="1200" dirty="0"/>
          </a:p>
        </p:txBody>
      </p:sp>
      <p:sp>
        <p:nvSpPr>
          <p:cNvPr id="15" name="Shape 13"/>
          <p:cNvSpPr/>
          <p:nvPr/>
        </p:nvSpPr>
        <p:spPr>
          <a:xfrm>
            <a:off x="8874125" y="1542393"/>
            <a:ext cx="2501900" cy="1800291"/>
          </a:xfrm>
          <a:prstGeom prst="roundRect">
            <a:avLst>
              <a:gd name="adj" fmla="val 5467"/>
            </a:avLst>
          </a:prstGeom>
          <a:solidFill>
            <a:srgbClr val="FBFBFC"/>
          </a:solidFill>
          <a:ln w="6350">
            <a:solidFill>
              <a:srgbClr val="DCE1E8"/>
            </a:solidFill>
            <a:prstDash val="solid"/>
          </a:ln>
        </p:spPr>
      </p:sp>
      <p:sp>
        <p:nvSpPr>
          <p:cNvPr id="16" name="Text 14"/>
          <p:cNvSpPr/>
          <p:nvPr/>
        </p:nvSpPr>
        <p:spPr>
          <a:xfrm>
            <a:off x="9103784" y="1772047"/>
            <a:ext cx="2103861" cy="482600"/>
          </a:xfrm>
          <a:prstGeom prst="rect">
            <a:avLst/>
          </a:prstGeom>
          <a:noFill/>
          <a:ln/>
        </p:spPr>
        <p:txBody>
          <a:bodyPr wrap="square" lIns="0" tIns="0" rIns="0" bIns="0" rtlCol="0" anchor="t">
            <a:normAutofit/>
          </a:bodyPr>
          <a:lstStyle/>
          <a:p>
            <a:pPr algn="l" indent="0" marL="0">
              <a:lnSpc>
                <a:spcPts val="3600"/>
              </a:lnSpc>
              <a:buNone/>
            </a:pPr>
            <a:r>
              <a:rPr lang="en-US" sz="3600" dirty="0">
                <a:solidFill>
                  <a:srgbClr val="2F4BA8"/>
                </a:solidFill>
                <a:latin typeface="Schibsted Grotesk" pitchFamily="34" charset="0"/>
                <a:ea typeface="Schibsted Grotesk" pitchFamily="34" charset="-122"/>
                <a:cs typeface="Schibsted Grotesk" pitchFamily="34" charset="-120"/>
              </a:rPr>
              <a:t>15</a:t>
            </a:r>
            <a:endParaRPr lang="en-US" sz="3600" dirty="0"/>
          </a:p>
        </p:txBody>
      </p:sp>
      <p:sp>
        <p:nvSpPr>
          <p:cNvPr id="17" name="Text 15"/>
          <p:cNvSpPr/>
          <p:nvPr/>
        </p:nvSpPr>
        <p:spPr>
          <a:xfrm>
            <a:off x="9103784" y="2229247"/>
            <a:ext cx="2103861"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72033"/>
                </a:solidFill>
                <a:latin typeface="Schibsted Grotesk" pitchFamily="34" charset="0"/>
                <a:ea typeface="Schibsted Grotesk" pitchFamily="34" charset="-122"/>
                <a:cs typeface="Schibsted Grotesk" pitchFamily="34" charset="-120"/>
              </a:rPr>
              <a:t>Relationship</a:t>
            </a:r>
            <a:endParaRPr lang="en-US" sz="1600" dirty="0"/>
          </a:p>
        </p:txBody>
      </p:sp>
      <p:sp>
        <p:nvSpPr>
          <p:cNvPr id="18" name="Text 16"/>
          <p:cNvSpPr/>
          <p:nvPr/>
        </p:nvSpPr>
        <p:spPr>
          <a:xfrm>
            <a:off x="9103784" y="2473065"/>
            <a:ext cx="2103861"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Schibsted Grotesk" pitchFamily="34" charset="0"/>
                <a:ea typeface="Schibsted Grotesk" pitchFamily="34" charset="-122"/>
                <a:cs typeface="Schibsted Grotesk" pitchFamily="34" charset="-120"/>
              </a:rPr>
              <a:t>Existing clients and referrals protected</a:t>
            </a:r>
            <a:endParaRPr lang="en-US" sz="1200" dirty="0"/>
          </a:p>
        </p:txBody>
      </p:sp>
      <p:sp>
        <p:nvSpPr>
          <p:cNvPr id="19" name="Text 17"/>
          <p:cNvSpPr/>
          <p:nvPr/>
        </p:nvSpPr>
        <p:spPr>
          <a:xfrm>
            <a:off x="812800" y="3625255"/>
            <a:ext cx="10464800" cy="594254"/>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72033"/>
                </a:solidFill>
                <a:latin typeface="Schibsted Grotesk" pitchFamily="34" charset="0"/>
                <a:ea typeface="Schibsted Grotesk" pitchFamily="34" charset="-122"/>
                <a:cs typeface="Schibsted Grotesk" pitchFamily="34" charset="-120"/>
              </a:rPr>
              <a:t>Test: the founders' own 7 July shortlist (FinEdge, NovaPharma, ShopSwift, Meridian, HealthFirst) lands at </a:t>
            </a:r>
            <a:r>
              <a:rPr lang="en-US" sz="1600" b="1" dirty="0">
                <a:solidFill>
                  <a:srgbClr val="172033"/>
                </a:solidFill>
                <a:latin typeface="Schibsted Grotesk" pitchFamily="34" charset="0"/>
                <a:ea typeface="Schibsted Grotesk" pitchFamily="34" charset="-122"/>
                <a:cs typeface="Schibsted Grotesk" pitchFamily="34" charset="-120"/>
              </a:rPr>
              <a:t>#1, #2, #8, #10 and #11 of 33</a:t>
            </a:r>
            <a:r>
              <a:rPr lang="en-US" sz="1600" dirty="0">
                <a:solidFill>
                  <a:srgbClr val="172033"/>
                </a:solidFill>
                <a:latin typeface="Schibsted Grotesk" pitchFamily="34" charset="0"/>
                <a:ea typeface="Schibsted Grotesk" pitchFamily="34" charset="-122"/>
                <a:cs typeface="Schibsted Grotesk" pitchFamily="34" charset="-120"/>
              </a:rPr>
              <a:t>. No model decides rank, so every rank can be explained.</a:t>
            </a:r>
            <a:endParaRPr lang="en-US" sz="1600" dirty="0"/>
          </a:p>
        </p:txBody>
      </p:sp>
      <p:sp>
        <p:nvSpPr>
          <p:cNvPr id="20" name="Text 18"/>
          <p:cNvSpPr/>
          <p:nvPr/>
        </p:nvSpPr>
        <p:spPr>
          <a:xfrm>
            <a:off x="812800" y="6238280"/>
            <a:ext cx="91567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487"/>
                </a:solidFill>
                <a:latin typeface="Schibsted Grotesk" pitchFamily="34" charset="0"/>
                <a:ea typeface="Schibsted Grotesk" pitchFamily="34" charset="-122"/>
                <a:cs typeface="Schibsted Grotesk" pitchFamily="34" charset="-120"/>
              </a:rPr>
              <a:t>Rules from client meeting 2: "cost, urgency, and the competition I'm feeling"</a:t>
            </a:r>
            <a:endParaRPr lang="en-US" sz="1200" dirty="0"/>
          </a:p>
        </p:txBody>
      </p:sp>
      <p:sp>
        <p:nvSpPr>
          <p:cNvPr id="21" name="Text 19"/>
          <p:cNvSpPr/>
          <p:nvPr/>
        </p:nvSpPr>
        <p:spPr>
          <a:xfrm>
            <a:off x="10693400" y="6238280"/>
            <a:ext cx="685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487"/>
                </a:solidFill>
                <a:latin typeface="Schibsted Grotesk" pitchFamily="34" charset="0"/>
                <a:ea typeface="Schibsted Grotesk" pitchFamily="34" charset="-122"/>
                <a:cs typeface="Schibsted Grotesk" pitchFamily="34" charset="-120"/>
              </a:rPr>
              <a:t>14</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4F5F8"/>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919427"/>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72033"/>
                </a:solidFill>
                <a:latin typeface="Schibsted Grotesk" pitchFamily="34" charset="0"/>
                <a:ea typeface="Schibsted Grotesk" pitchFamily="34" charset="-122"/>
                <a:cs typeface="Schibsted Grotesk" pitchFamily="34" charset="-120"/>
              </a:rPr>
              <a:t>The AI does one narrow job. Rules and people do the rest</a:t>
            </a:r>
            <a:endParaRPr lang="en-US" sz="3200" dirty="0"/>
          </a:p>
        </p:txBody>
      </p:sp>
      <p:sp>
        <p:nvSpPr>
          <p:cNvPr id="3" name="Shape 1"/>
          <p:cNvSpPr/>
          <p:nvPr/>
        </p:nvSpPr>
        <p:spPr>
          <a:xfrm>
            <a:off x="815975" y="2014804"/>
            <a:ext cx="1649677" cy="1677525"/>
          </a:xfrm>
          <a:prstGeom prst="roundRect">
            <a:avLst>
              <a:gd name="adj" fmla="val 5966"/>
            </a:avLst>
          </a:prstGeom>
          <a:solidFill>
            <a:srgbClr val="FBFBFC"/>
          </a:solidFill>
          <a:ln w="6350">
            <a:solidFill>
              <a:srgbClr val="DCE1E8"/>
            </a:solidFill>
            <a:prstDash val="solid"/>
          </a:ln>
        </p:spPr>
      </p:sp>
      <p:sp>
        <p:nvSpPr>
          <p:cNvPr id="4" name="Text 2"/>
          <p:cNvSpPr/>
          <p:nvPr/>
        </p:nvSpPr>
        <p:spPr>
          <a:xfrm>
            <a:off x="1020233" y="2219065"/>
            <a:ext cx="12919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487"/>
                </a:solidFill>
                <a:latin typeface="Schibsted Grotesk" pitchFamily="34" charset="0"/>
                <a:ea typeface="Schibsted Grotesk" pitchFamily="34" charset="-122"/>
                <a:cs typeface="Schibsted Grotesk" pitchFamily="34" charset="-120"/>
              </a:rPr>
              <a:t>Channels</a:t>
            </a:r>
            <a:endParaRPr lang="en-US" sz="1200" dirty="0"/>
          </a:p>
        </p:txBody>
      </p:sp>
      <p:sp>
        <p:nvSpPr>
          <p:cNvPr id="5" name="Text 3"/>
          <p:cNvSpPr/>
          <p:nvPr/>
        </p:nvSpPr>
        <p:spPr>
          <a:xfrm>
            <a:off x="1020233" y="2495885"/>
            <a:ext cx="1291960" cy="756841"/>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72033"/>
                </a:solidFill>
                <a:latin typeface="Schibsted Grotesk" pitchFamily="34" charset="0"/>
                <a:ea typeface="Schibsted Grotesk" pitchFamily="34" charset="-122"/>
                <a:cs typeface="Schibsted Grotesk" pitchFamily="34" charset="-120"/>
              </a:rPr>
              <a:t>Messages, notes, memos</a:t>
            </a:r>
            <a:endParaRPr lang="en-US" sz="1600" dirty="0"/>
          </a:p>
        </p:txBody>
      </p:sp>
      <p:pic>
        <p:nvPicPr>
          <p:cNvPr id="6" name="Image 0" descr="arrow-right">    </p:cNvPr>
          <p:cNvPicPr>
            <a:picLocks noChangeAspect="1"/>
          </p:cNvPicPr>
          <p:nvPr/>
        </p:nvPicPr>
        <p:blipFill>
          <a:blip r:embed="rId1"/>
          <a:srcRect l="0" r="0" t="0" b="0"/>
          <a:stretch/>
        </p:blipFill>
        <p:spPr>
          <a:xfrm>
            <a:off x="2570427" y="2764631"/>
            <a:ext cx="355600" cy="177800"/>
          </a:xfrm>
          <a:prstGeom prst="rect">
            <a:avLst/>
          </a:prstGeom>
        </p:spPr>
      </p:pic>
      <p:sp>
        <p:nvSpPr>
          <p:cNvPr id="7" name="Shape 4"/>
          <p:cNvSpPr/>
          <p:nvPr/>
        </p:nvSpPr>
        <p:spPr>
          <a:xfrm>
            <a:off x="3033977" y="2017979"/>
            <a:ext cx="1660327" cy="1671175"/>
          </a:xfrm>
          <a:prstGeom prst="roundRect">
            <a:avLst>
              <a:gd name="adj" fmla="val 5737"/>
            </a:avLst>
          </a:prstGeom>
          <a:solidFill>
            <a:srgbClr val="E6EBF8"/>
          </a:solidFill>
          <a:ln w="12700">
            <a:solidFill>
              <a:srgbClr val="2F4BA8"/>
            </a:solidFill>
            <a:prstDash val="solid"/>
          </a:ln>
        </p:spPr>
      </p:sp>
      <p:sp>
        <p:nvSpPr>
          <p:cNvPr id="8" name="Text 5"/>
          <p:cNvSpPr/>
          <p:nvPr/>
        </p:nvSpPr>
        <p:spPr>
          <a:xfrm>
            <a:off x="3243527" y="2227529"/>
            <a:ext cx="1292027" cy="452041"/>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F4BA8"/>
                </a:solidFill>
                <a:latin typeface="Schibsted Grotesk" pitchFamily="34" charset="0"/>
                <a:ea typeface="Schibsted Grotesk" pitchFamily="34" charset="-122"/>
                <a:cs typeface="Schibsted Grotesk" pitchFamily="34" charset="-120"/>
              </a:rPr>
              <a:t>Small, fast model</a:t>
            </a:r>
            <a:endParaRPr lang="en-US" sz="1200" dirty="0"/>
          </a:p>
        </p:txBody>
      </p:sp>
      <p:sp>
        <p:nvSpPr>
          <p:cNvPr id="9" name="Text 6"/>
          <p:cNvSpPr/>
          <p:nvPr/>
        </p:nvSpPr>
        <p:spPr>
          <a:xfrm>
            <a:off x="3243527" y="2717670"/>
            <a:ext cx="1292027" cy="756841"/>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72033"/>
                </a:solidFill>
                <a:latin typeface="Schibsted Grotesk" pitchFamily="34" charset="0"/>
                <a:ea typeface="Schibsted Grotesk" pitchFamily="34" charset="-122"/>
                <a:cs typeface="Schibsted Grotesk" pitchFamily="34" charset="-120"/>
              </a:rPr>
              <a:t>Extract signals with quotes</a:t>
            </a:r>
            <a:endParaRPr lang="en-US" sz="1600" dirty="0"/>
          </a:p>
        </p:txBody>
      </p:sp>
      <p:pic>
        <p:nvPicPr>
          <p:cNvPr id="10" name="Image 1" descr="arrow-right">    </p:cNvPr>
          <p:cNvPicPr>
            <a:picLocks noChangeAspect="1"/>
          </p:cNvPicPr>
          <p:nvPr/>
        </p:nvPicPr>
        <p:blipFill>
          <a:blip r:embed="rId2"/>
          <a:srcRect l="0" r="0" t="0" b="0"/>
          <a:stretch/>
        </p:blipFill>
        <p:spPr>
          <a:xfrm>
            <a:off x="4802254" y="2764631"/>
            <a:ext cx="355600" cy="177800"/>
          </a:xfrm>
          <a:prstGeom prst="rect">
            <a:avLst/>
          </a:prstGeom>
        </p:spPr>
      </p:pic>
      <p:sp>
        <p:nvSpPr>
          <p:cNvPr id="11" name="Shape 7"/>
          <p:cNvSpPr/>
          <p:nvPr/>
        </p:nvSpPr>
        <p:spPr>
          <a:xfrm>
            <a:off x="5262629" y="2014804"/>
            <a:ext cx="1649743" cy="1677525"/>
          </a:xfrm>
          <a:prstGeom prst="roundRect">
            <a:avLst>
              <a:gd name="adj" fmla="val 5966"/>
            </a:avLst>
          </a:prstGeom>
          <a:solidFill>
            <a:srgbClr val="FBFBFC"/>
          </a:solidFill>
          <a:ln w="6350">
            <a:solidFill>
              <a:srgbClr val="DCE1E8"/>
            </a:solidFill>
            <a:prstDash val="solid"/>
          </a:ln>
        </p:spPr>
      </p:sp>
      <p:sp>
        <p:nvSpPr>
          <p:cNvPr id="12" name="Text 8"/>
          <p:cNvSpPr/>
          <p:nvPr/>
        </p:nvSpPr>
        <p:spPr>
          <a:xfrm>
            <a:off x="5466887" y="2219065"/>
            <a:ext cx="129202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487"/>
                </a:solidFill>
                <a:latin typeface="Schibsted Grotesk" pitchFamily="34" charset="0"/>
                <a:ea typeface="Schibsted Grotesk" pitchFamily="34" charset="-122"/>
                <a:cs typeface="Schibsted Grotesk" pitchFamily="34" charset="-120"/>
              </a:rPr>
              <a:t>Code, no model</a:t>
            </a:r>
            <a:endParaRPr lang="en-US" sz="1200" dirty="0"/>
          </a:p>
        </p:txBody>
      </p:sp>
      <p:sp>
        <p:nvSpPr>
          <p:cNvPr id="13" name="Text 9"/>
          <p:cNvSpPr/>
          <p:nvPr/>
        </p:nvSpPr>
        <p:spPr>
          <a:xfrm>
            <a:off x="5466887" y="2495885"/>
            <a:ext cx="1292027" cy="756841"/>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72033"/>
                </a:solidFill>
                <a:latin typeface="Schibsted Grotesk" pitchFamily="34" charset="0"/>
                <a:ea typeface="Schibsted Grotesk" pitchFamily="34" charset="-122"/>
                <a:cs typeface="Schibsted Grotesk" pitchFamily="34" charset="-120"/>
              </a:rPr>
              <a:t>Quote check, rank, dates</a:t>
            </a:r>
            <a:endParaRPr lang="en-US" sz="1600" dirty="0"/>
          </a:p>
        </p:txBody>
      </p:sp>
      <p:pic>
        <p:nvPicPr>
          <p:cNvPr id="14" name="Image 2" descr="arrow-right">    </p:cNvPr>
          <p:cNvPicPr>
            <a:picLocks noChangeAspect="1"/>
          </p:cNvPicPr>
          <p:nvPr/>
        </p:nvPicPr>
        <p:blipFill>
          <a:blip r:embed="rId3"/>
          <a:srcRect l="0" r="0" t="0" b="0"/>
          <a:stretch/>
        </p:blipFill>
        <p:spPr>
          <a:xfrm>
            <a:off x="7017147" y="2764631"/>
            <a:ext cx="355600" cy="177800"/>
          </a:xfrm>
          <a:prstGeom prst="rect">
            <a:avLst/>
          </a:prstGeom>
        </p:spPr>
      </p:pic>
      <p:sp>
        <p:nvSpPr>
          <p:cNvPr id="15" name="Shape 10"/>
          <p:cNvSpPr/>
          <p:nvPr/>
        </p:nvSpPr>
        <p:spPr>
          <a:xfrm>
            <a:off x="7480697" y="2017979"/>
            <a:ext cx="1660327" cy="1671175"/>
          </a:xfrm>
          <a:prstGeom prst="roundRect">
            <a:avLst>
              <a:gd name="adj" fmla="val 5737"/>
            </a:avLst>
          </a:prstGeom>
          <a:solidFill>
            <a:srgbClr val="E6EBF8"/>
          </a:solidFill>
          <a:ln w="12700">
            <a:solidFill>
              <a:srgbClr val="2F4BA8"/>
            </a:solidFill>
            <a:prstDash val="solid"/>
          </a:ln>
        </p:spPr>
      </p:sp>
      <p:sp>
        <p:nvSpPr>
          <p:cNvPr id="16" name="Text 11"/>
          <p:cNvSpPr/>
          <p:nvPr/>
        </p:nvSpPr>
        <p:spPr>
          <a:xfrm>
            <a:off x="7690247" y="2227529"/>
            <a:ext cx="1292027"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F4BA8"/>
                </a:solidFill>
                <a:latin typeface="Schibsted Grotesk" pitchFamily="34" charset="0"/>
                <a:ea typeface="Schibsted Grotesk" pitchFamily="34" charset="-122"/>
                <a:cs typeface="Schibsted Grotesk" pitchFamily="34" charset="-120"/>
              </a:rPr>
              <a:t>Stronger model</a:t>
            </a:r>
            <a:endParaRPr lang="en-US" sz="1200" dirty="0"/>
          </a:p>
        </p:txBody>
      </p:sp>
      <p:sp>
        <p:nvSpPr>
          <p:cNvPr id="17" name="Text 12"/>
          <p:cNvSpPr/>
          <p:nvPr/>
        </p:nvSpPr>
        <p:spPr>
          <a:xfrm>
            <a:off x="7690247" y="2504349"/>
            <a:ext cx="1292027" cy="100065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72033"/>
                </a:solidFill>
                <a:latin typeface="Schibsted Grotesk" pitchFamily="34" charset="0"/>
                <a:ea typeface="Schibsted Grotesk" pitchFamily="34" charset="-122"/>
                <a:cs typeface="Schibsted Grotesk" pitchFamily="34" charset="-120"/>
              </a:rPr>
              <a:t>Draft replies, answer questions</a:t>
            </a:r>
            <a:endParaRPr lang="en-US" sz="1600" dirty="0"/>
          </a:p>
        </p:txBody>
      </p:sp>
      <p:pic>
        <p:nvPicPr>
          <p:cNvPr id="18" name="Image 3" descr="arrow-right">    </p:cNvPr>
          <p:cNvPicPr>
            <a:picLocks noChangeAspect="1"/>
          </p:cNvPicPr>
          <p:nvPr/>
        </p:nvPicPr>
        <p:blipFill>
          <a:blip r:embed="rId4"/>
          <a:srcRect l="0" r="0" t="0" b="0"/>
          <a:stretch/>
        </p:blipFill>
        <p:spPr>
          <a:xfrm>
            <a:off x="9248973" y="2764631"/>
            <a:ext cx="355600" cy="177800"/>
          </a:xfrm>
          <a:prstGeom prst="rect">
            <a:avLst/>
          </a:prstGeom>
        </p:spPr>
      </p:pic>
      <p:sp>
        <p:nvSpPr>
          <p:cNvPr id="19" name="Shape 13"/>
          <p:cNvSpPr/>
          <p:nvPr/>
        </p:nvSpPr>
        <p:spPr>
          <a:xfrm>
            <a:off x="9712523" y="2017979"/>
            <a:ext cx="1660327" cy="1671175"/>
          </a:xfrm>
          <a:prstGeom prst="roundRect">
            <a:avLst>
              <a:gd name="adj" fmla="val 5737"/>
            </a:avLst>
          </a:prstGeom>
          <a:solidFill>
            <a:srgbClr val="E3F2EF"/>
          </a:solidFill>
          <a:ln w="12700">
            <a:solidFill>
              <a:srgbClr val="1D6F63"/>
            </a:solidFill>
            <a:prstDash val="solid"/>
          </a:ln>
        </p:spPr>
      </p:sp>
      <p:sp>
        <p:nvSpPr>
          <p:cNvPr id="20" name="Text 14"/>
          <p:cNvSpPr/>
          <p:nvPr/>
        </p:nvSpPr>
        <p:spPr>
          <a:xfrm>
            <a:off x="9922073" y="2227529"/>
            <a:ext cx="1292027"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D6F63"/>
                </a:solidFill>
                <a:latin typeface="Schibsted Grotesk" pitchFamily="34" charset="0"/>
                <a:ea typeface="Schibsted Grotesk" pitchFamily="34" charset="-122"/>
                <a:cs typeface="Schibsted Grotesk" pitchFamily="34" charset="-120"/>
              </a:rPr>
              <a:t>A person</a:t>
            </a:r>
            <a:endParaRPr lang="en-US" sz="1200" dirty="0"/>
          </a:p>
        </p:txBody>
      </p:sp>
      <p:sp>
        <p:nvSpPr>
          <p:cNvPr id="21" name="Text 15"/>
          <p:cNvSpPr/>
          <p:nvPr/>
        </p:nvSpPr>
        <p:spPr>
          <a:xfrm>
            <a:off x="9922073" y="2504349"/>
            <a:ext cx="1292027" cy="513027"/>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72033"/>
                </a:solidFill>
                <a:latin typeface="Schibsted Grotesk" pitchFamily="34" charset="0"/>
                <a:ea typeface="Schibsted Grotesk" pitchFamily="34" charset="-122"/>
                <a:cs typeface="Schibsted Grotesk" pitchFamily="34" charset="-120"/>
              </a:rPr>
              <a:t>Sends, approves</a:t>
            </a:r>
            <a:endParaRPr lang="en-US" sz="1600" dirty="0"/>
          </a:p>
        </p:txBody>
      </p:sp>
      <p:sp>
        <p:nvSpPr>
          <p:cNvPr id="22" name="Text 16"/>
          <p:cNvSpPr/>
          <p:nvPr/>
        </p:nvSpPr>
        <p:spPr>
          <a:xfrm>
            <a:off x="812800" y="4000302"/>
            <a:ext cx="10464800" cy="854075"/>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4A5568"/>
                </a:solidFill>
                <a:latin typeface="Schibsted Grotesk" pitchFamily="34" charset="0"/>
                <a:ea typeface="Schibsted Grotesk" pitchFamily="34" charset="-122"/>
                <a:cs typeface="Schibsted Grotesk" pitchFamily="34" charset="-120"/>
              </a:rPr>
              <a:t>The provider is one setting. The prototype on Vercel runs on Gemini's free tier (Flash-Lite to extract, Flash to write), which is fine because the dataset is synthetic. Production uses Claude Haiku and Sonnet on a paid tier that doesn't train on client data.</a:t>
            </a:r>
            <a:endParaRPr lang="en-US" sz="1500" dirty="0"/>
          </a:p>
        </p:txBody>
      </p:sp>
      <p:sp>
        <p:nvSpPr>
          <p:cNvPr id="23" name="Text 17"/>
          <p:cNvSpPr/>
          <p:nvPr/>
        </p:nvSpPr>
        <p:spPr>
          <a:xfrm>
            <a:off x="10693400" y="6238280"/>
            <a:ext cx="685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487"/>
                </a:solidFill>
                <a:latin typeface="Schibsted Grotesk" pitchFamily="34" charset="0"/>
                <a:ea typeface="Schibsted Grotesk" pitchFamily="34" charset="-122"/>
                <a:cs typeface="Schibsted Grotesk" pitchFamily="34" charset="-120"/>
              </a:rPr>
              <a:t>15</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4F5F8"/>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72033"/>
                </a:solidFill>
                <a:latin typeface="Schibsted Grotesk" pitchFamily="34" charset="0"/>
                <a:ea typeface="Schibsted Grotesk" pitchFamily="34" charset="-122"/>
                <a:cs typeface="Schibsted Grotesk" pitchFamily="34" charset="-120"/>
              </a:rPr>
              <a:t>North Star: no client waits more than two days</a:t>
            </a:r>
            <a:endParaRPr lang="en-US" sz="3200" dirty="0"/>
          </a:p>
        </p:txBody>
      </p:sp>
      <p:sp>
        <p:nvSpPr>
          <p:cNvPr id="3" name="Shape 1"/>
          <p:cNvSpPr/>
          <p:nvPr/>
        </p:nvSpPr>
        <p:spPr>
          <a:xfrm>
            <a:off x="812800" y="1513818"/>
            <a:ext cx="10566400" cy="1153054"/>
          </a:xfrm>
          <a:prstGeom prst="roundRect">
            <a:avLst>
              <a:gd name="adj" fmla="val 8811"/>
            </a:avLst>
          </a:prstGeom>
          <a:solidFill>
            <a:srgbClr val="172033"/>
          </a:solidFill>
          <a:ln/>
        </p:spPr>
      </p:sp>
      <p:sp>
        <p:nvSpPr>
          <p:cNvPr id="4" name="Text 2"/>
          <p:cNvSpPr/>
          <p:nvPr/>
        </p:nvSpPr>
        <p:spPr>
          <a:xfrm>
            <a:off x="1092200" y="1793218"/>
            <a:ext cx="6540500" cy="619654"/>
          </a:xfrm>
          <a:prstGeom prst="rect">
            <a:avLst/>
          </a:prstGeom>
          <a:noFill/>
          <a:ln/>
        </p:spPr>
        <p:txBody>
          <a:bodyPr wrap="square" lIns="0" tIns="0" rIns="0" bIns="0" rtlCol="0" anchor="t">
            <a:normAutofit/>
          </a:bodyPr>
          <a:lstStyle/>
          <a:p>
            <a:pPr algn="l" indent="0" marL="0">
              <a:lnSpc>
                <a:spcPts val="2340"/>
              </a:lnSpc>
              <a:buNone/>
            </a:pPr>
            <a:r>
              <a:rPr lang="en-US" sz="1800" b="1" dirty="0">
                <a:solidFill>
                  <a:srgbClr val="F4F5F8"/>
                </a:solidFill>
                <a:latin typeface="Schibsted Grotesk" pitchFamily="34" charset="0"/>
                <a:ea typeface="Schibsted Grotesk" pitchFamily="34" charset="-122"/>
                <a:cs typeface="Schibsted Grotesk" pitchFamily="34" charset="-120"/>
              </a:rPr>
              <a:t>% of client asks and AtliQ promises closed within 2 business days</a:t>
            </a:r>
            <a:endParaRPr lang="en-US" sz="1800" dirty="0"/>
          </a:p>
        </p:txBody>
      </p:sp>
      <p:sp>
        <p:nvSpPr>
          <p:cNvPr id="5" name="Text 3"/>
          <p:cNvSpPr/>
          <p:nvPr/>
        </p:nvSpPr>
        <p:spPr>
          <a:xfrm>
            <a:off x="8211424" y="1894756"/>
            <a:ext cx="2888377" cy="416520"/>
          </a:xfrm>
          <a:prstGeom prst="rect">
            <a:avLst/>
          </a:prstGeom>
          <a:noFill/>
          <a:ln/>
        </p:spPr>
        <p:txBody>
          <a:bodyPr wrap="square" lIns="0" tIns="0" rIns="0" bIns="0" rtlCol="0" anchor="t">
            <a:normAutofit/>
          </a:bodyPr>
          <a:lstStyle/>
          <a:p>
            <a:pPr algn="r" indent="0" marL="0">
              <a:lnSpc>
                <a:spcPts val="3080"/>
              </a:lnSpc>
              <a:buNone/>
            </a:pPr>
            <a:r>
              <a:rPr lang="en-US" sz="2200" dirty="0">
                <a:solidFill>
                  <a:srgbClr val="F4F5F8"/>
                </a:solidFill>
                <a:latin typeface="Schibsted Grotesk" pitchFamily="34" charset="0"/>
                <a:ea typeface="Schibsted Grotesk" pitchFamily="34" charset="-122"/>
                <a:cs typeface="Schibsted Grotesk" pitchFamily="34" charset="-120"/>
              </a:rPr>
              <a:t>under 20% to 90%</a:t>
            </a:r>
            <a:endParaRPr lang="en-US" sz="22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825500" y="2933576"/>
          <a:ext cx="10553700" cy="2027634"/>
        </p:xfrm>
        <a:graphic>
          <a:graphicData uri="http://schemas.openxmlformats.org/drawingml/2006/table">
            <a:tbl>
              <a:tblPr/>
              <a:tblGrid>
                <a:gridCol w="2743962"/>
                <a:gridCol w="4854702"/>
                <a:gridCol w="2955036"/>
              </a:tblGrid>
              <a:tr h="359304">
                <a:tc>
                  <a:txBody>
                    <a:bodyPr/>
                    <a:lstStyle/>
                    <a:p>
                      <a:pPr indent="0" marL="0">
                        <a:lnSpc>
                          <a:spcPts val="1820"/>
                        </a:lnSpc>
                        <a:buNone/>
                      </a:pPr>
                      <a:r>
                        <a:rPr lang="en-US" sz="1300" b="1" dirty="0">
                          <a:solidFill>
                            <a:srgbClr val="172033"/>
                          </a:solidFill>
                          <a:latin typeface="Schibsted Grotesk" pitchFamily="34" charset="0"/>
                          <a:ea typeface="Schibsted Grotesk" pitchFamily="34" charset="-122"/>
                          <a:cs typeface="Schibsted Grotesk" pitchFamily="34" charset="-120"/>
                        </a:rPr>
                        <a:t>Layer</a:t>
                      </a:r>
                      <a:endParaRPr lang="en-US" sz="1300" dirty="0">
                        <a:latin typeface="Schibsted Grotesk" charset="0"/>
                        <a:ea typeface="Schibsted Grotesk" charset="0"/>
                        <a:cs typeface="Schibsted Grotesk" charset="0"/>
                      </a:endParaRPr>
                    </a:p>
                  </a:txBody>
                  <a:tcPr marL="57785" marR="57785" marT="57785" marB="57785" anchor="t">
                    <a:lnL w="12700" cap="flat" cmpd="sng" algn="ctr">
                      <a:solidFill>
                        <a:srgbClr val="C3C4C6"/>
                      </a:solidFill>
                      <a:prstDash val="solid"/>
                      <a:round/>
                      <a:headEnd type="none" w="med" len="med"/>
                      <a:tailEnd type="none" w="med" len="med"/>
                    </a:lnL>
                    <a:lnR w="12700" cap="flat" cmpd="sng" algn="ctr">
                      <a:solidFill>
                        <a:srgbClr val="B5B5B8"/>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B5B5B8"/>
                      </a:solidFill>
                      <a:prstDash val="solid"/>
                      <a:round/>
                      <a:headEnd type="none" w="med" len="med"/>
                      <a:tailEnd type="none" w="med" len="med"/>
                    </a:lnB>
                    <a:solidFill>
                      <a:srgbClr val="E2E3E6"/>
                    </a:solidFill>
                  </a:tcPr>
                </a:tc>
                <a:tc>
                  <a:txBody>
                    <a:bodyPr/>
                    <a:lstStyle/>
                    <a:p>
                      <a:pPr indent="0" marL="0">
                        <a:lnSpc>
                          <a:spcPts val="1820"/>
                        </a:lnSpc>
                        <a:buNone/>
                      </a:pPr>
                      <a:r>
                        <a:rPr lang="en-US" sz="1300" b="1" dirty="0">
                          <a:solidFill>
                            <a:srgbClr val="172033"/>
                          </a:solidFill>
                          <a:latin typeface="Schibsted Grotesk" pitchFamily="34" charset="0"/>
                          <a:ea typeface="Schibsted Grotesk" pitchFamily="34" charset="-122"/>
                          <a:cs typeface="Schibsted Grotesk" pitchFamily="34" charset="-120"/>
                        </a:rPr>
                        <a:t>Metric</a:t>
                      </a:r>
                      <a:endParaRPr lang="en-US" sz="1300" dirty="0">
                        <a:latin typeface="Schibsted Grotesk" charset="0"/>
                        <a:ea typeface="Schibsted Grotesk" charset="0"/>
                        <a:cs typeface="Schibsted Grotesk" charset="0"/>
                      </a:endParaRPr>
                    </a:p>
                  </a:txBody>
                  <a:tcPr marL="57785" marR="57785" marT="57785" marB="57785" anchor="t">
                    <a:lnL w="12700" cap="flat" cmpd="sng" algn="ctr">
                      <a:solidFill>
                        <a:srgbClr val="B5B5B8"/>
                      </a:solidFill>
                      <a:prstDash val="solid"/>
                      <a:round/>
                      <a:headEnd type="none" w="med" len="med"/>
                      <a:tailEnd type="none" w="med" len="med"/>
                    </a:lnL>
                    <a:lnR w="12700" cap="flat" cmpd="sng" algn="ctr">
                      <a:solidFill>
                        <a:srgbClr val="B5B5B8"/>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B5B5B8"/>
                      </a:solidFill>
                      <a:prstDash val="solid"/>
                      <a:round/>
                      <a:headEnd type="none" w="med" len="med"/>
                      <a:tailEnd type="none" w="med" len="med"/>
                    </a:lnB>
                    <a:solidFill>
                      <a:srgbClr val="E2E3E6"/>
                    </a:solidFill>
                  </a:tcPr>
                </a:tc>
                <a:tc>
                  <a:txBody>
                    <a:bodyPr/>
                    <a:lstStyle/>
                    <a:p>
                      <a:pPr indent="0" marL="0">
                        <a:lnSpc>
                          <a:spcPts val="1820"/>
                        </a:lnSpc>
                        <a:buNone/>
                      </a:pPr>
                      <a:r>
                        <a:rPr lang="en-US" sz="1300" b="1" dirty="0">
                          <a:solidFill>
                            <a:srgbClr val="172033"/>
                          </a:solidFill>
                          <a:latin typeface="Schibsted Grotesk" pitchFamily="34" charset="0"/>
                          <a:ea typeface="Schibsted Grotesk" pitchFamily="34" charset="-122"/>
                          <a:cs typeface="Schibsted Grotesk" pitchFamily="34" charset="-120"/>
                        </a:rPr>
                        <a:t>Target</a:t>
                      </a:r>
                      <a:endParaRPr lang="en-US" sz="1300" dirty="0">
                        <a:latin typeface="Schibsted Grotesk" charset="0"/>
                        <a:ea typeface="Schibsted Grotesk" charset="0"/>
                        <a:cs typeface="Schibsted Grotesk" charset="0"/>
                      </a:endParaRPr>
                    </a:p>
                  </a:txBody>
                  <a:tcPr marL="57785" marR="57785" marT="57785" marB="57785" anchor="t">
                    <a:lnL w="12700" cap="flat" cmpd="sng" algn="ctr">
                      <a:solidFill>
                        <a:srgbClr val="B5B5B8"/>
                      </a:solidFill>
                      <a:prstDash val="solid"/>
                      <a:round/>
                      <a:headEnd type="none" w="med" len="med"/>
                      <a:tailEnd type="none" w="med" len="med"/>
                    </a:lnL>
                    <a:lnR w="12700" cap="flat" cmpd="sng" algn="ctr">
                      <a:solidFill>
                        <a:srgbClr val="B5B5B8"/>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B5B5B8"/>
                      </a:solidFill>
                      <a:prstDash val="solid"/>
                      <a:round/>
                      <a:headEnd type="none" w="med" len="med"/>
                      <a:tailEnd type="none" w="med" len="med"/>
                    </a:lnB>
                    <a:solidFill>
                      <a:srgbClr val="E2E3E6"/>
                    </a:solidFill>
                  </a:tcPr>
                </a:tc>
              </a:tr>
              <a:tr h="590418">
                <a:tc>
                  <a:txBody>
                    <a:bodyPr/>
                    <a:lstStyle/>
                    <a:p>
                      <a:pPr indent="0" marL="0">
                        <a:lnSpc>
                          <a:spcPts val="1820"/>
                        </a:lnSpc>
                        <a:buNone/>
                      </a:pPr>
                      <a:r>
                        <a:rPr lang="en-US" sz="1300" dirty="0">
                          <a:solidFill>
                            <a:srgbClr val="172033"/>
                          </a:solidFill>
                          <a:latin typeface="Schibsted Grotesk" pitchFamily="34" charset="0"/>
                          <a:ea typeface="Schibsted Grotesk" pitchFamily="34" charset="-122"/>
                          <a:cs typeface="Schibsted Grotesk" pitchFamily="34" charset="-120"/>
                        </a:rPr>
                        <a:t>Business outcome</a:t>
                      </a:r>
                      <a:endParaRPr lang="en-US" sz="1300" dirty="0">
                        <a:latin typeface="Schibsted Grotesk" charset="0"/>
                        <a:ea typeface="Schibsted Grotesk" charset="0"/>
                        <a:cs typeface="Schibsted Grotesk" charset="0"/>
                      </a:endParaRPr>
                    </a:p>
                  </a:txBody>
                  <a:tcPr marL="57785" marR="57785" marT="57785" marB="57785"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B5B5B8"/>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1820"/>
                        </a:lnSpc>
                        <a:buNone/>
                      </a:pPr>
                      <a:r>
                        <a:rPr lang="en-US" sz="1300" dirty="0">
                          <a:solidFill>
                            <a:srgbClr val="172033"/>
                          </a:solidFill>
                          <a:latin typeface="Schibsted Grotesk" pitchFamily="34" charset="0"/>
                          <a:ea typeface="Schibsted Grotesk" pitchFamily="34" charset="-122"/>
                          <a:cs typeface="Schibsted Grotesk" pitchFamily="34" charset="-120"/>
                        </a:rPr>
                        <a:t>Win rate on proposals; revenue from referrals, cross-sells, revived deals</a:t>
                      </a:r>
                      <a:endParaRPr lang="en-US" sz="1300" dirty="0">
                        <a:latin typeface="Schibsted Grotesk" charset="0"/>
                        <a:ea typeface="Schibsted Grotesk" charset="0"/>
                        <a:cs typeface="Schibsted Grotesk" charset="0"/>
                      </a:endParaRPr>
                    </a:p>
                  </a:txBody>
                  <a:tcPr marL="57785" marR="57785" marT="57785" marB="57785"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B5B5B8"/>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1820"/>
                        </a:lnSpc>
                        <a:buNone/>
                      </a:pPr>
                      <a:r>
                        <a:rPr lang="en-US" sz="1300" dirty="0">
                          <a:solidFill>
                            <a:srgbClr val="172033"/>
                          </a:solidFill>
                          <a:latin typeface="Schibsted Grotesk" pitchFamily="34" charset="0"/>
                          <a:ea typeface="Schibsted Grotesk" pitchFamily="34" charset="-122"/>
                          <a:cs typeface="Schibsted Grotesk" pitchFamily="34" charset="-120"/>
                        </a:rPr>
                        <a:t>+10 pts in 2 quarters</a:t>
                      </a:r>
                      <a:endParaRPr lang="en-US" sz="1300" dirty="0">
                        <a:latin typeface="Schibsted Grotesk" charset="0"/>
                        <a:ea typeface="Schibsted Grotesk" charset="0"/>
                        <a:cs typeface="Schibsted Grotesk" charset="0"/>
                      </a:endParaRPr>
                    </a:p>
                  </a:txBody>
                  <a:tcPr marL="57785" marR="57785" marT="57785" marB="57785"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B5B5B8"/>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r>
              <a:tr h="359304">
                <a:tc>
                  <a:txBody>
                    <a:bodyPr/>
                    <a:lstStyle/>
                    <a:p>
                      <a:pPr indent="0" marL="0">
                        <a:lnSpc>
                          <a:spcPts val="1820"/>
                        </a:lnSpc>
                        <a:buNone/>
                      </a:pPr>
                      <a:r>
                        <a:rPr lang="en-US" sz="1300" dirty="0">
                          <a:solidFill>
                            <a:srgbClr val="172033"/>
                          </a:solidFill>
                          <a:latin typeface="Schibsted Grotesk" pitchFamily="34" charset="0"/>
                          <a:ea typeface="Schibsted Grotesk" pitchFamily="34" charset="-122"/>
                          <a:cs typeface="Schibsted Grotesk" pitchFamily="34" charset="-120"/>
                        </a:rPr>
                        <a:t>Output</a:t>
                      </a:r>
                      <a:endParaRPr lang="en-US" sz="1300" dirty="0">
                        <a:latin typeface="Schibsted Grotesk" charset="0"/>
                        <a:ea typeface="Schibsted Grotesk" charset="0"/>
                        <a:cs typeface="Schibsted Grotesk" charset="0"/>
                      </a:endParaRPr>
                    </a:p>
                  </a:txBody>
                  <a:tcPr marL="57785" marR="57785" marT="57785" marB="57785"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1820"/>
                        </a:lnSpc>
                        <a:buNone/>
                      </a:pPr>
                      <a:r>
                        <a:rPr lang="en-US" sz="1300" dirty="0">
                          <a:solidFill>
                            <a:srgbClr val="172033"/>
                          </a:solidFill>
                          <a:latin typeface="Schibsted Grotesk" pitchFamily="34" charset="0"/>
                          <a:ea typeface="Schibsted Grotesk" pitchFamily="34" charset="-122"/>
                          <a:cs typeface="Schibsted Grotesk" pitchFamily="34" charset="-120"/>
                        </a:rPr>
                        <a:t>Median days a client waits; CRM up to date</a:t>
                      </a:r>
                      <a:endParaRPr lang="en-US" sz="1300" dirty="0">
                        <a:latin typeface="Schibsted Grotesk" charset="0"/>
                        <a:ea typeface="Schibsted Grotesk" charset="0"/>
                        <a:cs typeface="Schibsted Grotesk" charset="0"/>
                      </a:endParaRPr>
                    </a:p>
                  </a:txBody>
                  <a:tcPr marL="57785" marR="57785" marT="57785" marB="57785"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1820"/>
                        </a:lnSpc>
                        <a:buNone/>
                      </a:pPr>
                      <a:r>
                        <a:rPr lang="en-US" sz="1300" dirty="0">
                          <a:solidFill>
                            <a:srgbClr val="172033"/>
                          </a:solidFill>
                          <a:latin typeface="Schibsted Grotesk" pitchFamily="34" charset="0"/>
                          <a:ea typeface="Schibsted Grotesk" pitchFamily="34" charset="-122"/>
                          <a:cs typeface="Schibsted Grotesk" pitchFamily="34" charset="-120"/>
                        </a:rPr>
                        <a:t>15 to 2 days; 0% to 90%</a:t>
                      </a:r>
                      <a:endParaRPr lang="en-US" sz="1300" dirty="0">
                        <a:latin typeface="Schibsted Grotesk" charset="0"/>
                        <a:ea typeface="Schibsted Grotesk" charset="0"/>
                        <a:cs typeface="Schibsted Grotesk" charset="0"/>
                      </a:endParaRPr>
                    </a:p>
                  </a:txBody>
                  <a:tcPr marL="57785" marR="57785" marT="57785" marB="57785"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r>
              <a:tr h="359304">
                <a:tc>
                  <a:txBody>
                    <a:bodyPr/>
                    <a:lstStyle/>
                    <a:p>
                      <a:pPr indent="0" marL="0">
                        <a:lnSpc>
                          <a:spcPts val="1820"/>
                        </a:lnSpc>
                        <a:buNone/>
                      </a:pPr>
                      <a:r>
                        <a:rPr lang="en-US" sz="1300" dirty="0">
                          <a:solidFill>
                            <a:srgbClr val="172033"/>
                          </a:solidFill>
                          <a:latin typeface="Schibsted Grotesk" pitchFamily="34" charset="0"/>
                          <a:ea typeface="Schibsted Grotesk" pitchFamily="34" charset="-122"/>
                          <a:cs typeface="Schibsted Grotesk" pitchFamily="34" charset="-120"/>
                        </a:rPr>
                        <a:t>Trust</a:t>
                      </a:r>
                      <a:endParaRPr lang="en-US" sz="1300" dirty="0">
                        <a:latin typeface="Schibsted Grotesk" charset="0"/>
                        <a:ea typeface="Schibsted Grotesk" charset="0"/>
                        <a:cs typeface="Schibsted Grotesk" charset="0"/>
                      </a:endParaRPr>
                    </a:p>
                  </a:txBody>
                  <a:tcPr marL="57785" marR="57785" marT="57785" marB="57785"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1820"/>
                        </a:lnSpc>
                        <a:buNone/>
                      </a:pPr>
                      <a:r>
                        <a:rPr lang="en-US" sz="1300" dirty="0">
                          <a:solidFill>
                            <a:srgbClr val="172033"/>
                          </a:solidFill>
                          <a:latin typeface="Schibsted Grotesk" pitchFamily="34" charset="0"/>
                          <a:ea typeface="Schibsted Grotesk" pitchFamily="34" charset="-122"/>
                          <a:cs typeface="Schibsted Grotesk" pitchFamily="34" charset="-120"/>
                        </a:rPr>
                        <a:t>Drafts sent; CRM suggestions approved</a:t>
                      </a:r>
                      <a:endParaRPr lang="en-US" sz="1300" dirty="0">
                        <a:latin typeface="Schibsted Grotesk" charset="0"/>
                        <a:ea typeface="Schibsted Grotesk" charset="0"/>
                        <a:cs typeface="Schibsted Grotesk" charset="0"/>
                      </a:endParaRPr>
                    </a:p>
                  </a:txBody>
                  <a:tcPr marL="57785" marR="57785" marT="57785" marB="57785"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1820"/>
                        </a:lnSpc>
                        <a:buNone/>
                      </a:pPr>
                      <a:r>
                        <a:rPr lang="en-US" sz="1300" dirty="0">
                          <a:solidFill>
                            <a:srgbClr val="172033"/>
                          </a:solidFill>
                          <a:latin typeface="Schibsted Grotesk" pitchFamily="34" charset="0"/>
                          <a:ea typeface="Schibsted Grotesk" pitchFamily="34" charset="-122"/>
                          <a:cs typeface="Schibsted Grotesk" pitchFamily="34" charset="-120"/>
                        </a:rPr>
                        <a:t>60%+; 85%+</a:t>
                      </a:r>
                      <a:endParaRPr lang="en-US" sz="1300" dirty="0">
                        <a:latin typeface="Schibsted Grotesk" charset="0"/>
                        <a:ea typeface="Schibsted Grotesk" charset="0"/>
                        <a:cs typeface="Schibsted Grotesk" charset="0"/>
                      </a:endParaRPr>
                    </a:p>
                  </a:txBody>
                  <a:tcPr marL="57785" marR="57785" marT="57785" marB="57785"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r>
              <a:tr h="359304">
                <a:tc>
                  <a:txBody>
                    <a:bodyPr/>
                    <a:lstStyle/>
                    <a:p>
                      <a:pPr indent="0" marL="0">
                        <a:lnSpc>
                          <a:spcPts val="1820"/>
                        </a:lnSpc>
                        <a:buNone/>
                      </a:pPr>
                      <a:r>
                        <a:rPr lang="en-US" sz="1300" dirty="0">
                          <a:solidFill>
                            <a:srgbClr val="172033"/>
                          </a:solidFill>
                          <a:latin typeface="Schibsted Grotesk" pitchFamily="34" charset="0"/>
                          <a:ea typeface="Schibsted Grotesk" pitchFamily="34" charset="-122"/>
                          <a:cs typeface="Schibsted Grotesk" pitchFamily="34" charset="-120"/>
                        </a:rPr>
                        <a:t>Guardrail</a:t>
                      </a:r>
                      <a:endParaRPr lang="en-US" sz="1300" dirty="0">
                        <a:latin typeface="Schibsted Grotesk" charset="0"/>
                        <a:ea typeface="Schibsted Grotesk" charset="0"/>
                        <a:cs typeface="Schibsted Grotesk" charset="0"/>
                      </a:endParaRPr>
                    </a:p>
                  </a:txBody>
                  <a:tcPr marL="57785" marR="57785" marT="57785" marB="57785"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1820"/>
                        </a:lnSpc>
                        <a:buNone/>
                      </a:pPr>
                      <a:r>
                        <a:rPr lang="en-US" sz="1300" dirty="0">
                          <a:solidFill>
                            <a:srgbClr val="172033"/>
                          </a:solidFill>
                          <a:latin typeface="Schibsted Grotesk" pitchFamily="34" charset="0"/>
                          <a:ea typeface="Schibsted Grotesk" pitchFamily="34" charset="-122"/>
                          <a:cs typeface="Schibsted Grotesk" pitchFamily="34" charset="-120"/>
                        </a:rPr>
                        <a:t>Ungrounded items, auto-sends, unapproved writes</a:t>
                      </a:r>
                      <a:endParaRPr lang="en-US" sz="1300" dirty="0">
                        <a:latin typeface="Schibsted Grotesk" charset="0"/>
                        <a:ea typeface="Schibsted Grotesk" charset="0"/>
                        <a:cs typeface="Schibsted Grotesk" charset="0"/>
                      </a:endParaRPr>
                    </a:p>
                  </a:txBody>
                  <a:tcPr marL="57785" marR="57785" marT="57785" marB="57785"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1820"/>
                        </a:lnSpc>
                        <a:buNone/>
                      </a:pPr>
                      <a:r>
                        <a:rPr lang="en-US" sz="1300" dirty="0">
                          <a:solidFill>
                            <a:srgbClr val="172033"/>
                          </a:solidFill>
                          <a:latin typeface="Schibsted Grotesk" pitchFamily="34" charset="0"/>
                          <a:ea typeface="Schibsted Grotesk" pitchFamily="34" charset="-122"/>
                          <a:cs typeface="Schibsted Grotesk" pitchFamily="34" charset="-120"/>
                        </a:rPr>
                        <a:t>Zero, always</a:t>
                      </a:r>
                      <a:endParaRPr lang="en-US" sz="1300" dirty="0">
                        <a:latin typeface="Schibsted Grotesk" charset="0"/>
                        <a:ea typeface="Schibsted Grotesk" charset="0"/>
                        <a:cs typeface="Schibsted Grotesk" charset="0"/>
                      </a:endParaRPr>
                    </a:p>
                  </a:txBody>
                  <a:tcPr marL="57785" marR="57785" marT="57785" marB="57785"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r>
            </a:tbl>
          </a:graphicData>
        </a:graphic>
      </p:graphicFrame>
      <p:sp>
        <p:nvSpPr>
          <p:cNvPr id="7" name="Text 4"/>
          <p:cNvSpPr/>
          <p:nvPr/>
        </p:nvSpPr>
        <p:spPr>
          <a:xfrm>
            <a:off x="10693400" y="6238280"/>
            <a:ext cx="685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487"/>
                </a:solidFill>
                <a:latin typeface="Schibsted Grotesk" pitchFamily="34" charset="0"/>
                <a:ea typeface="Schibsted Grotesk" pitchFamily="34" charset="-122"/>
                <a:cs typeface="Schibsted Grotesk" pitchFamily="34" charset="-120"/>
              </a:rPr>
              <a:t>16</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4F5F8"/>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72033"/>
                </a:solidFill>
                <a:latin typeface="Schibsted Grotesk" pitchFamily="34" charset="0"/>
                <a:ea typeface="Schibsted Grotesk" pitchFamily="34" charset="-122"/>
                <a:cs typeface="Schibsted Grotesk" pitchFamily="34" charset="-120"/>
              </a:rPr>
              <a:t>Risks, and the guardrail for each</a:t>
            </a:r>
            <a:endParaRPr lang="en-US" sz="32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25500" y="1526518"/>
          <a:ext cx="10553700" cy="2515129"/>
        </p:xfrm>
        <a:graphic>
          <a:graphicData uri="http://schemas.openxmlformats.org/drawingml/2006/table">
            <a:tbl>
              <a:tblPr/>
              <a:tblGrid>
                <a:gridCol w="3588258"/>
                <a:gridCol w="6965442"/>
              </a:tblGrid>
              <a:tr h="359304">
                <a:tc>
                  <a:txBody>
                    <a:bodyPr/>
                    <a:lstStyle/>
                    <a:p>
                      <a:pPr indent="0" marL="0">
                        <a:lnSpc>
                          <a:spcPts val="1820"/>
                        </a:lnSpc>
                        <a:buNone/>
                      </a:pPr>
                      <a:r>
                        <a:rPr lang="en-US" sz="1300" b="1" dirty="0">
                          <a:solidFill>
                            <a:srgbClr val="172033"/>
                          </a:solidFill>
                          <a:latin typeface="Schibsted Grotesk" pitchFamily="34" charset="0"/>
                          <a:ea typeface="Schibsted Grotesk" pitchFamily="34" charset="-122"/>
                          <a:cs typeface="Schibsted Grotesk" pitchFamily="34" charset="-120"/>
                        </a:rPr>
                        <a:t>Risk</a:t>
                      </a:r>
                      <a:endParaRPr lang="en-US" sz="1300" dirty="0">
                        <a:latin typeface="Schibsted Grotesk" charset="0"/>
                        <a:ea typeface="Schibsted Grotesk" charset="0"/>
                        <a:cs typeface="Schibsted Grotesk" charset="0"/>
                      </a:endParaRPr>
                    </a:p>
                  </a:txBody>
                  <a:tcPr marL="57785" marR="57785" marT="57785" marB="57785" anchor="t">
                    <a:lnL w="12700" cap="flat" cmpd="sng" algn="ctr">
                      <a:solidFill>
                        <a:srgbClr val="C3C4C6"/>
                      </a:solidFill>
                      <a:prstDash val="solid"/>
                      <a:round/>
                      <a:headEnd type="none" w="med" len="med"/>
                      <a:tailEnd type="none" w="med" len="med"/>
                    </a:lnL>
                    <a:lnR w="12700" cap="flat" cmpd="sng" algn="ctr">
                      <a:solidFill>
                        <a:srgbClr val="B5B5B8"/>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B5B5B8"/>
                      </a:solidFill>
                      <a:prstDash val="solid"/>
                      <a:round/>
                      <a:headEnd type="none" w="med" len="med"/>
                      <a:tailEnd type="none" w="med" len="med"/>
                    </a:lnB>
                    <a:solidFill>
                      <a:srgbClr val="E2E3E6"/>
                    </a:solidFill>
                  </a:tcPr>
                </a:tc>
                <a:tc>
                  <a:txBody>
                    <a:bodyPr/>
                    <a:lstStyle/>
                    <a:p>
                      <a:pPr indent="0" marL="0">
                        <a:lnSpc>
                          <a:spcPts val="1820"/>
                        </a:lnSpc>
                        <a:buNone/>
                      </a:pPr>
                      <a:r>
                        <a:rPr lang="en-US" sz="1300" b="1" dirty="0">
                          <a:solidFill>
                            <a:srgbClr val="172033"/>
                          </a:solidFill>
                          <a:latin typeface="Schibsted Grotesk" pitchFamily="34" charset="0"/>
                          <a:ea typeface="Schibsted Grotesk" pitchFamily="34" charset="-122"/>
                          <a:cs typeface="Schibsted Grotesk" pitchFamily="34" charset="-120"/>
                        </a:rPr>
                        <a:t>Guardrail</a:t>
                      </a:r>
                      <a:endParaRPr lang="en-US" sz="1300" dirty="0">
                        <a:latin typeface="Schibsted Grotesk" charset="0"/>
                        <a:ea typeface="Schibsted Grotesk" charset="0"/>
                        <a:cs typeface="Schibsted Grotesk" charset="0"/>
                      </a:endParaRPr>
                    </a:p>
                  </a:txBody>
                  <a:tcPr marL="57785" marR="57785" marT="57785" marB="57785" anchor="t">
                    <a:lnL w="12700" cap="flat" cmpd="sng" algn="ctr">
                      <a:solidFill>
                        <a:srgbClr val="B5B5B8"/>
                      </a:solidFill>
                      <a:prstDash val="solid"/>
                      <a:round/>
                      <a:headEnd type="none" w="med" len="med"/>
                      <a:tailEnd type="none" w="med" len="med"/>
                    </a:lnL>
                    <a:lnR w="12700" cap="flat" cmpd="sng" algn="ctr">
                      <a:solidFill>
                        <a:srgbClr val="B5B5B8"/>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B5B5B8"/>
                      </a:solidFill>
                      <a:prstDash val="solid"/>
                      <a:round/>
                      <a:headEnd type="none" w="med" len="med"/>
                      <a:tailEnd type="none" w="med" len="med"/>
                    </a:lnB>
                    <a:solidFill>
                      <a:srgbClr val="E2E3E6"/>
                    </a:solidFill>
                  </a:tcPr>
                </a:tc>
              </a:tr>
              <a:tr h="359304">
                <a:tc>
                  <a:txBody>
                    <a:bodyPr/>
                    <a:lstStyle/>
                    <a:p>
                      <a:pPr indent="0" marL="0">
                        <a:lnSpc>
                          <a:spcPts val="1820"/>
                        </a:lnSpc>
                        <a:buNone/>
                      </a:pPr>
                      <a:r>
                        <a:rPr lang="en-US" sz="1300" dirty="0">
                          <a:solidFill>
                            <a:srgbClr val="172033"/>
                          </a:solidFill>
                          <a:latin typeface="Schibsted Grotesk" pitchFamily="34" charset="0"/>
                          <a:ea typeface="Schibsted Grotesk" pitchFamily="34" charset="-122"/>
                          <a:cs typeface="Schibsted Grotesk" pitchFamily="34" charset="-120"/>
                        </a:rPr>
                        <a:t>AI invents an ask or a date</a:t>
                      </a:r>
                      <a:endParaRPr lang="en-US" sz="1300" dirty="0">
                        <a:latin typeface="Schibsted Grotesk" charset="0"/>
                        <a:ea typeface="Schibsted Grotesk" charset="0"/>
                        <a:cs typeface="Schibsted Grotesk" charset="0"/>
                      </a:endParaRPr>
                    </a:p>
                  </a:txBody>
                  <a:tcPr marL="57785" marR="57785" marT="57785" marB="57785"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B5B5B8"/>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1820"/>
                        </a:lnSpc>
                        <a:buNone/>
                      </a:pPr>
                      <a:r>
                        <a:rPr lang="en-US" sz="1300" dirty="0">
                          <a:solidFill>
                            <a:srgbClr val="172033"/>
                          </a:solidFill>
                          <a:latin typeface="Schibsted Grotesk" pitchFamily="34" charset="0"/>
                          <a:ea typeface="Schibsted Grotesk" pitchFamily="34" charset="-122"/>
                          <a:cs typeface="Schibsted Grotesk" pitchFamily="34" charset="-120"/>
                        </a:rPr>
                        <a:t>Quote or drop it: code checks every quote word for word; dates come from evidence</a:t>
                      </a:r>
                      <a:endParaRPr lang="en-US" sz="1300" dirty="0">
                        <a:latin typeface="Schibsted Grotesk" charset="0"/>
                        <a:ea typeface="Schibsted Grotesk" charset="0"/>
                        <a:cs typeface="Schibsted Grotesk" charset="0"/>
                      </a:endParaRPr>
                    </a:p>
                  </a:txBody>
                  <a:tcPr marL="57785" marR="57785" marT="57785" marB="57785"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B5B5B8"/>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r>
              <a:tr h="359304">
                <a:tc>
                  <a:txBody>
                    <a:bodyPr/>
                    <a:lstStyle/>
                    <a:p>
                      <a:pPr indent="0" marL="0">
                        <a:lnSpc>
                          <a:spcPts val="1820"/>
                        </a:lnSpc>
                        <a:buNone/>
                      </a:pPr>
                      <a:r>
                        <a:rPr lang="en-US" sz="1300" dirty="0">
                          <a:solidFill>
                            <a:srgbClr val="172033"/>
                          </a:solidFill>
                          <a:latin typeface="Schibsted Grotesk" pitchFamily="34" charset="0"/>
                          <a:ea typeface="Schibsted Grotesk" pitchFamily="34" charset="-122"/>
                          <a:cs typeface="Schibsted Grotesk" pitchFamily="34" charset="-120"/>
                        </a:rPr>
                        <a:t>Wrong message reaches a client</a:t>
                      </a:r>
                      <a:endParaRPr lang="en-US" sz="1300" dirty="0">
                        <a:latin typeface="Schibsted Grotesk" charset="0"/>
                        <a:ea typeface="Schibsted Grotesk" charset="0"/>
                        <a:cs typeface="Schibsted Grotesk" charset="0"/>
                      </a:endParaRPr>
                    </a:p>
                  </a:txBody>
                  <a:tcPr marL="57785" marR="57785" marT="57785" marB="57785"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1820"/>
                        </a:lnSpc>
                        <a:buNone/>
                      </a:pPr>
                      <a:r>
                        <a:rPr lang="en-US" sz="1300" dirty="0">
                          <a:solidFill>
                            <a:srgbClr val="172033"/>
                          </a:solidFill>
                          <a:latin typeface="Schibsted Grotesk" pitchFamily="34" charset="0"/>
                          <a:ea typeface="Schibsted Grotesk" pitchFamily="34" charset="-122"/>
                          <a:cs typeface="Schibsted Grotesk" pitchFamily="34" charset="-120"/>
                        </a:rPr>
                        <a:t>Recall never sends; send stays blocked until every [gap] is filled by a person</a:t>
                      </a:r>
                      <a:endParaRPr lang="en-US" sz="1300" dirty="0">
                        <a:latin typeface="Schibsted Grotesk" charset="0"/>
                        <a:ea typeface="Schibsted Grotesk" charset="0"/>
                        <a:cs typeface="Schibsted Grotesk" charset="0"/>
                      </a:endParaRPr>
                    </a:p>
                  </a:txBody>
                  <a:tcPr marL="57785" marR="57785" marT="57785" marB="57785"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r>
              <a:tr h="359304">
                <a:tc>
                  <a:txBody>
                    <a:bodyPr/>
                    <a:lstStyle/>
                    <a:p>
                      <a:pPr indent="0" marL="0">
                        <a:lnSpc>
                          <a:spcPts val="1820"/>
                        </a:lnSpc>
                        <a:buNone/>
                      </a:pPr>
                      <a:r>
                        <a:rPr lang="en-US" sz="1300" dirty="0">
                          <a:solidFill>
                            <a:srgbClr val="172033"/>
                          </a:solidFill>
                          <a:latin typeface="Schibsted Grotesk" pitchFamily="34" charset="0"/>
                          <a:ea typeface="Schibsted Grotesk" pitchFamily="34" charset="-122"/>
                          <a:cs typeface="Schibsted Grotesk" pitchFamily="34" charset="-120"/>
                        </a:rPr>
                        <a:t>CRM corrupted by automation</a:t>
                      </a:r>
                      <a:endParaRPr lang="en-US" sz="1300" dirty="0">
                        <a:latin typeface="Schibsted Grotesk" charset="0"/>
                        <a:ea typeface="Schibsted Grotesk" charset="0"/>
                        <a:cs typeface="Schibsted Grotesk" charset="0"/>
                      </a:endParaRPr>
                    </a:p>
                  </a:txBody>
                  <a:tcPr marL="57785" marR="57785" marT="57785" marB="57785"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1820"/>
                        </a:lnSpc>
                        <a:buNone/>
                      </a:pPr>
                      <a:r>
                        <a:rPr lang="en-US" sz="1300" dirty="0">
                          <a:solidFill>
                            <a:srgbClr val="172033"/>
                          </a:solidFill>
                          <a:latin typeface="Schibsted Grotesk" pitchFamily="34" charset="0"/>
                          <a:ea typeface="Schibsted Grotesk" pitchFamily="34" charset="-122"/>
                          <a:cs typeface="Schibsted Grotesk" pitchFamily="34" charset="-120"/>
                        </a:rPr>
                        <a:t>Approval per change; AI judgements never bulk-approved; change log</a:t>
                      </a:r>
                      <a:endParaRPr lang="en-US" sz="1300" dirty="0">
                        <a:latin typeface="Schibsted Grotesk" charset="0"/>
                        <a:ea typeface="Schibsted Grotesk" charset="0"/>
                        <a:cs typeface="Schibsted Grotesk" charset="0"/>
                      </a:endParaRPr>
                    </a:p>
                  </a:txBody>
                  <a:tcPr marL="57785" marR="57785" marT="57785" marB="57785"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r>
              <a:tr h="359304">
                <a:tc>
                  <a:txBody>
                    <a:bodyPr/>
                    <a:lstStyle/>
                    <a:p>
                      <a:pPr indent="0" marL="0">
                        <a:lnSpc>
                          <a:spcPts val="1820"/>
                        </a:lnSpc>
                        <a:buNone/>
                      </a:pPr>
                      <a:r>
                        <a:rPr lang="en-US" sz="1300" dirty="0">
                          <a:solidFill>
                            <a:srgbClr val="172033"/>
                          </a:solidFill>
                          <a:latin typeface="Schibsted Grotesk" pitchFamily="34" charset="0"/>
                          <a:ea typeface="Schibsted Grotesk" pitchFamily="34" charset="-122"/>
                          <a:cs typeface="Schibsted Grotesk" pitchFamily="34" charset="-120"/>
                        </a:rPr>
                        <a:t>Deal stage changed too early</a:t>
                      </a:r>
                      <a:endParaRPr lang="en-US" sz="1300" dirty="0">
                        <a:latin typeface="Schibsted Grotesk" charset="0"/>
                        <a:ea typeface="Schibsted Grotesk" charset="0"/>
                        <a:cs typeface="Schibsted Grotesk" charset="0"/>
                      </a:endParaRPr>
                    </a:p>
                  </a:txBody>
                  <a:tcPr marL="57785" marR="57785" marT="57785" marB="57785"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1820"/>
                        </a:lnSpc>
                        <a:buNone/>
                      </a:pPr>
                      <a:r>
                        <a:rPr lang="en-US" sz="1300" dirty="0">
                          <a:solidFill>
                            <a:srgbClr val="172033"/>
                          </a:solidFill>
                          <a:latin typeface="Schibsted Grotesk" pitchFamily="34" charset="0"/>
                          <a:ea typeface="Schibsted Grotesk" pitchFamily="34" charset="-122"/>
                          <a:cs typeface="Schibsted Grotesk" pitchFamily="34" charset="-120"/>
                        </a:rPr>
                        <a:t>Won only on signature; Lost reopens only on the client's own words</a:t>
                      </a:r>
                      <a:endParaRPr lang="en-US" sz="1300" dirty="0">
                        <a:latin typeface="Schibsted Grotesk" charset="0"/>
                        <a:ea typeface="Schibsted Grotesk" charset="0"/>
                        <a:cs typeface="Schibsted Grotesk" charset="0"/>
                      </a:endParaRPr>
                    </a:p>
                  </a:txBody>
                  <a:tcPr marL="57785" marR="57785" marT="57785" marB="57785"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r>
              <a:tr h="359304">
                <a:tc>
                  <a:txBody>
                    <a:bodyPr/>
                    <a:lstStyle/>
                    <a:p>
                      <a:pPr indent="0" marL="0">
                        <a:lnSpc>
                          <a:spcPts val="1820"/>
                        </a:lnSpc>
                        <a:buNone/>
                      </a:pPr>
                      <a:r>
                        <a:rPr lang="en-US" sz="1300" dirty="0">
                          <a:solidFill>
                            <a:srgbClr val="172033"/>
                          </a:solidFill>
                          <a:latin typeface="Schibsted Grotesk" pitchFamily="34" charset="0"/>
                          <a:ea typeface="Schibsted Grotesk" pitchFamily="34" charset="-122"/>
                          <a:cs typeface="Schibsted Grotesk" pitchFamily="34" charset="-120"/>
                        </a:rPr>
                        <a:t>Ranking nobody trusts</a:t>
                      </a:r>
                      <a:endParaRPr lang="en-US" sz="1300" dirty="0">
                        <a:latin typeface="Schibsted Grotesk" charset="0"/>
                        <a:ea typeface="Schibsted Grotesk" charset="0"/>
                        <a:cs typeface="Schibsted Grotesk" charset="0"/>
                      </a:endParaRPr>
                    </a:p>
                  </a:txBody>
                  <a:tcPr marL="57785" marR="57785" marT="57785" marB="57785"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1820"/>
                        </a:lnSpc>
                        <a:buNone/>
                      </a:pPr>
                      <a:r>
                        <a:rPr lang="en-US" sz="1300" dirty="0">
                          <a:solidFill>
                            <a:srgbClr val="172033"/>
                          </a:solidFill>
                          <a:latin typeface="Schibsted Grotesk" pitchFamily="34" charset="0"/>
                          <a:ea typeface="Schibsted Grotesk" pitchFamily="34" charset="-122"/>
                          <a:cs typeface="Schibsted Grotesk" pitchFamily="34" charset="-120"/>
                        </a:rPr>
                        <a:t>Plain rules with a visible breakdown; no demographic inputs</a:t>
                      </a:r>
                      <a:endParaRPr lang="en-US" sz="1300" dirty="0">
                        <a:latin typeface="Schibsted Grotesk" charset="0"/>
                        <a:ea typeface="Schibsted Grotesk" charset="0"/>
                        <a:cs typeface="Schibsted Grotesk" charset="0"/>
                      </a:endParaRPr>
                    </a:p>
                  </a:txBody>
                  <a:tcPr marL="57785" marR="57785" marT="57785" marB="57785"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r>
              <a:tr h="359304">
                <a:tc>
                  <a:txBody>
                    <a:bodyPr/>
                    <a:lstStyle/>
                    <a:p>
                      <a:pPr indent="0" marL="0">
                        <a:lnSpc>
                          <a:spcPts val="1820"/>
                        </a:lnSpc>
                        <a:buNone/>
                      </a:pPr>
                      <a:r>
                        <a:rPr lang="en-US" sz="1300" dirty="0">
                          <a:solidFill>
                            <a:srgbClr val="172033"/>
                          </a:solidFill>
                          <a:latin typeface="Schibsted Grotesk" pitchFamily="34" charset="0"/>
                          <a:ea typeface="Schibsted Grotesk" pitchFamily="34" charset="-122"/>
                          <a:cs typeface="Schibsted Grotesk" pitchFamily="34" charset="-120"/>
                        </a:rPr>
                        <a:t>Privacy and consent</a:t>
                      </a:r>
                      <a:endParaRPr lang="en-US" sz="1300" dirty="0">
                        <a:latin typeface="Schibsted Grotesk" charset="0"/>
                        <a:ea typeface="Schibsted Grotesk" charset="0"/>
                        <a:cs typeface="Schibsted Grotesk" charset="0"/>
                      </a:endParaRPr>
                    </a:p>
                  </a:txBody>
                  <a:tcPr marL="57785" marR="57785" marT="57785" marB="57785"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c>
                  <a:txBody>
                    <a:bodyPr/>
                    <a:lstStyle/>
                    <a:p>
                      <a:pPr indent="0" marL="0">
                        <a:lnSpc>
                          <a:spcPts val="1820"/>
                        </a:lnSpc>
                        <a:buNone/>
                      </a:pPr>
                      <a:r>
                        <a:rPr lang="en-US" sz="1300" dirty="0">
                          <a:solidFill>
                            <a:srgbClr val="172033"/>
                          </a:solidFill>
                          <a:latin typeface="Schibsted Grotesk" pitchFamily="34" charset="0"/>
                          <a:ea typeface="Schibsted Grotesk" pitchFamily="34" charset="-122"/>
                          <a:cs typeface="Schibsted Grotesk" pitchFamily="34" charset="-120"/>
                        </a:rPr>
                        <a:t>Minimum context per call; no covert recording; personal details not stored</a:t>
                      </a:r>
                      <a:endParaRPr lang="en-US" sz="1300" dirty="0">
                        <a:latin typeface="Schibsted Grotesk" charset="0"/>
                        <a:ea typeface="Schibsted Grotesk" charset="0"/>
                        <a:cs typeface="Schibsted Grotesk" charset="0"/>
                      </a:endParaRPr>
                    </a:p>
                  </a:txBody>
                  <a:tcPr marL="57785" marR="57785" marT="57785" marB="57785"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3C4C6"/>
                      </a:solidFill>
                      <a:prstDash val="solid"/>
                      <a:round/>
                      <a:headEnd type="none" w="med" len="med"/>
                      <a:tailEnd type="none" w="med" len="med"/>
                    </a:lnB>
                  </a:tcPr>
                </a:tc>
              </a:tr>
            </a:tbl>
          </a:graphicData>
        </a:graphic>
      </p:graphicFrame>
      <p:sp>
        <p:nvSpPr>
          <p:cNvPr id="4" name="Text 1"/>
          <p:cNvSpPr/>
          <p:nvPr/>
        </p:nvSpPr>
        <p:spPr>
          <a:xfrm>
            <a:off x="10693400" y="6238280"/>
            <a:ext cx="685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487"/>
                </a:solidFill>
                <a:latin typeface="Schibsted Grotesk" pitchFamily="34" charset="0"/>
                <a:ea typeface="Schibsted Grotesk" pitchFamily="34" charset="-122"/>
                <a:cs typeface="Schibsted Grotesk" pitchFamily="34" charset="-120"/>
              </a:rPr>
              <a:t>17</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4F5F8"/>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72033"/>
                </a:solidFill>
                <a:latin typeface="Schibsted Grotesk" pitchFamily="34" charset="0"/>
                <a:ea typeface="Schibsted Grotesk" pitchFamily="34" charset="-122"/>
                <a:cs typeface="Schibsted Grotesk" pitchFamily="34" charset="-120"/>
              </a:rPr>
              <a:t>It works on AtliQ's data, for about $26 a month</a:t>
            </a:r>
            <a:endParaRPr lang="en-US" sz="3200" dirty="0"/>
          </a:p>
        </p:txBody>
      </p:sp>
      <p:sp>
        <p:nvSpPr>
          <p:cNvPr id="3" name="Shape 1"/>
          <p:cNvSpPr/>
          <p:nvPr/>
        </p:nvSpPr>
        <p:spPr>
          <a:xfrm>
            <a:off x="815975" y="1567793"/>
            <a:ext cx="3380317" cy="1642930"/>
          </a:xfrm>
          <a:prstGeom prst="roundRect">
            <a:avLst>
              <a:gd name="adj" fmla="val 5991"/>
            </a:avLst>
          </a:prstGeom>
          <a:solidFill>
            <a:srgbClr val="FBFBFC"/>
          </a:solidFill>
          <a:ln w="6350">
            <a:solidFill>
              <a:srgbClr val="DCE1E8"/>
            </a:solidFill>
            <a:prstDash val="solid"/>
          </a:ln>
        </p:spPr>
      </p:sp>
      <p:sp>
        <p:nvSpPr>
          <p:cNvPr id="4" name="Text 2"/>
          <p:cNvSpPr/>
          <p:nvPr/>
        </p:nvSpPr>
        <p:spPr>
          <a:xfrm>
            <a:off x="1071033" y="1822847"/>
            <a:ext cx="2956306" cy="584200"/>
          </a:xfrm>
          <a:prstGeom prst="rect">
            <a:avLst/>
          </a:prstGeom>
          <a:noFill/>
          <a:ln/>
        </p:spPr>
        <p:txBody>
          <a:bodyPr wrap="square" lIns="0" tIns="0" rIns="0" bIns="0" rtlCol="0" anchor="t">
            <a:normAutofit/>
          </a:bodyPr>
          <a:lstStyle/>
          <a:p>
            <a:pPr algn="l" indent="0" marL="0">
              <a:lnSpc>
                <a:spcPts val="4400"/>
              </a:lnSpc>
              <a:buNone/>
            </a:pPr>
            <a:r>
              <a:rPr lang="en-US" sz="4400" dirty="0">
                <a:solidFill>
                  <a:srgbClr val="1D6F63"/>
                </a:solidFill>
                <a:latin typeface="Schibsted Grotesk" pitchFamily="34" charset="0"/>
                <a:ea typeface="Schibsted Grotesk" pitchFamily="34" charset="-122"/>
                <a:cs typeface="Schibsted Grotesk" pitchFamily="34" charset="-120"/>
              </a:rPr>
              <a:t>152/152</a:t>
            </a:r>
            <a:endParaRPr lang="en-US" sz="4400" dirty="0"/>
          </a:p>
        </p:txBody>
      </p:sp>
      <p:sp>
        <p:nvSpPr>
          <p:cNvPr id="5" name="Text 3"/>
          <p:cNvSpPr/>
          <p:nvPr/>
        </p:nvSpPr>
        <p:spPr>
          <a:xfrm>
            <a:off x="1071033" y="2457847"/>
            <a:ext cx="2956306" cy="523214"/>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72033"/>
                </a:solidFill>
                <a:latin typeface="Schibsted Grotesk" pitchFamily="34" charset="0"/>
                <a:ea typeface="Schibsted Grotesk" pitchFamily="34" charset="-122"/>
                <a:cs typeface="Schibsted Grotesk" pitchFamily="34" charset="-120"/>
              </a:rPr>
              <a:t>extracted quotes found word for word in their source</a:t>
            </a:r>
            <a:endParaRPr lang="en-US" sz="1400" dirty="0"/>
          </a:p>
        </p:txBody>
      </p:sp>
      <p:sp>
        <p:nvSpPr>
          <p:cNvPr id="6" name="Shape 4"/>
          <p:cNvSpPr/>
          <p:nvPr/>
        </p:nvSpPr>
        <p:spPr>
          <a:xfrm>
            <a:off x="4405842" y="1567793"/>
            <a:ext cx="3380317" cy="1642930"/>
          </a:xfrm>
          <a:prstGeom prst="roundRect">
            <a:avLst>
              <a:gd name="adj" fmla="val 5991"/>
            </a:avLst>
          </a:prstGeom>
          <a:solidFill>
            <a:srgbClr val="FBFBFC"/>
          </a:solidFill>
          <a:ln w="6350">
            <a:solidFill>
              <a:srgbClr val="DCE1E8"/>
            </a:solidFill>
            <a:prstDash val="solid"/>
          </a:ln>
        </p:spPr>
      </p:sp>
      <p:sp>
        <p:nvSpPr>
          <p:cNvPr id="7" name="Text 5"/>
          <p:cNvSpPr/>
          <p:nvPr/>
        </p:nvSpPr>
        <p:spPr>
          <a:xfrm>
            <a:off x="4660900" y="1822847"/>
            <a:ext cx="2956306" cy="584200"/>
          </a:xfrm>
          <a:prstGeom prst="rect">
            <a:avLst/>
          </a:prstGeom>
          <a:noFill/>
          <a:ln/>
        </p:spPr>
        <p:txBody>
          <a:bodyPr wrap="square" lIns="0" tIns="0" rIns="0" bIns="0" rtlCol="0" anchor="t">
            <a:normAutofit/>
          </a:bodyPr>
          <a:lstStyle/>
          <a:p>
            <a:pPr algn="l" indent="0" marL="0">
              <a:lnSpc>
                <a:spcPts val="4400"/>
              </a:lnSpc>
              <a:buNone/>
            </a:pPr>
            <a:r>
              <a:rPr lang="en-US" sz="4400" dirty="0">
                <a:solidFill>
                  <a:srgbClr val="1D6F63"/>
                </a:solidFill>
                <a:latin typeface="Schibsted Grotesk" pitchFamily="34" charset="0"/>
                <a:ea typeface="Schibsted Grotesk" pitchFamily="34" charset="-122"/>
                <a:cs typeface="Schibsted Grotesk" pitchFamily="34" charset="-120"/>
              </a:rPr>
              <a:t>33/33</a:t>
            </a:r>
            <a:endParaRPr lang="en-US" sz="4400" dirty="0"/>
          </a:p>
        </p:txBody>
      </p:sp>
      <p:sp>
        <p:nvSpPr>
          <p:cNvPr id="8" name="Text 6"/>
          <p:cNvSpPr/>
          <p:nvPr/>
        </p:nvSpPr>
        <p:spPr>
          <a:xfrm>
            <a:off x="4660900" y="2457847"/>
            <a:ext cx="2956306" cy="523214"/>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72033"/>
                </a:solidFill>
                <a:latin typeface="Schibsted Grotesk" pitchFamily="34" charset="0"/>
                <a:ea typeface="Schibsted Grotesk" pitchFamily="34" charset="-122"/>
                <a:cs typeface="Schibsted Grotesk" pitchFamily="34" charset="-120"/>
              </a:rPr>
              <a:t>waiting clients found; 6/6 missing leads; 2/2 duplicates</a:t>
            </a:r>
            <a:endParaRPr lang="en-US" sz="1400" dirty="0"/>
          </a:p>
        </p:txBody>
      </p:sp>
      <p:sp>
        <p:nvSpPr>
          <p:cNvPr id="9" name="Shape 7"/>
          <p:cNvSpPr/>
          <p:nvPr/>
        </p:nvSpPr>
        <p:spPr>
          <a:xfrm>
            <a:off x="7995709" y="1567793"/>
            <a:ext cx="3380317" cy="1642930"/>
          </a:xfrm>
          <a:prstGeom prst="roundRect">
            <a:avLst>
              <a:gd name="adj" fmla="val 5991"/>
            </a:avLst>
          </a:prstGeom>
          <a:solidFill>
            <a:srgbClr val="FBFBFC"/>
          </a:solidFill>
          <a:ln w="6350">
            <a:solidFill>
              <a:srgbClr val="DCE1E8"/>
            </a:solidFill>
            <a:prstDash val="solid"/>
          </a:ln>
        </p:spPr>
      </p:sp>
      <p:sp>
        <p:nvSpPr>
          <p:cNvPr id="10" name="Text 8"/>
          <p:cNvSpPr/>
          <p:nvPr/>
        </p:nvSpPr>
        <p:spPr>
          <a:xfrm>
            <a:off x="8250767" y="1822847"/>
            <a:ext cx="2956306" cy="584200"/>
          </a:xfrm>
          <a:prstGeom prst="rect">
            <a:avLst/>
          </a:prstGeom>
          <a:noFill/>
          <a:ln/>
        </p:spPr>
        <p:txBody>
          <a:bodyPr wrap="square" lIns="0" tIns="0" rIns="0" bIns="0" rtlCol="0" anchor="t">
            <a:normAutofit/>
          </a:bodyPr>
          <a:lstStyle/>
          <a:p>
            <a:pPr algn="l" indent="0" marL="0">
              <a:lnSpc>
                <a:spcPts val="4400"/>
              </a:lnSpc>
              <a:buNone/>
            </a:pPr>
            <a:r>
              <a:rPr lang="en-US" sz="4400" dirty="0">
                <a:solidFill>
                  <a:srgbClr val="2F4BA8"/>
                </a:solidFill>
                <a:latin typeface="Schibsted Grotesk" pitchFamily="34" charset="0"/>
                <a:ea typeface="Schibsted Grotesk" pitchFamily="34" charset="-122"/>
                <a:cs typeface="Schibsted Grotesk" pitchFamily="34" charset="-120"/>
              </a:rPr>
              <a:t>$5.82</a:t>
            </a:r>
            <a:endParaRPr lang="en-US" sz="4400" dirty="0"/>
          </a:p>
        </p:txBody>
      </p:sp>
      <p:sp>
        <p:nvSpPr>
          <p:cNvPr id="11" name="Text 9"/>
          <p:cNvSpPr/>
          <p:nvPr/>
        </p:nvSpPr>
        <p:spPr>
          <a:xfrm>
            <a:off x="8250767" y="2457847"/>
            <a:ext cx="2956306" cy="523214"/>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72033"/>
                </a:solidFill>
                <a:latin typeface="Schibsted Grotesk" pitchFamily="34" charset="0"/>
                <a:ea typeface="Schibsted Grotesk" pitchFamily="34" charset="-122"/>
                <a:cs typeface="Schibsted Grotesk" pitchFamily="34" charset="-120"/>
              </a:rPr>
              <a:t>AI cost per month at ~60 messages a day, plus $20 hosting</a:t>
            </a:r>
            <a:endParaRPr lang="en-US" sz="1400" dirty="0"/>
          </a:p>
        </p:txBody>
      </p:sp>
      <p:sp>
        <p:nvSpPr>
          <p:cNvPr id="12" name="Text 10"/>
          <p:cNvSpPr/>
          <p:nvPr/>
        </p:nvSpPr>
        <p:spPr>
          <a:xfrm>
            <a:off x="812800" y="3518694"/>
            <a:ext cx="10464800" cy="798711"/>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4A5568"/>
                </a:solidFill>
                <a:latin typeface="Schibsted Grotesk" pitchFamily="34" charset="0"/>
                <a:ea typeface="Schibsted Grotesk" pitchFamily="34" charset="-122"/>
                <a:cs typeface="Schibsted Grotesk" pitchFamily="34" charset="-120"/>
              </a:rPr>
              <a:t>Gold labels come from the dataset's ground-truth notes, which the AI never sees. The seeded extraction was built with the whole dataset in view, so a live model run (about $0.02) is the gate before alpha. One saved $20k deal pays for 60+ years of running cost.</a:t>
            </a:r>
            <a:endParaRPr lang="en-US" sz="1400" dirty="0"/>
          </a:p>
        </p:txBody>
      </p:sp>
      <p:sp>
        <p:nvSpPr>
          <p:cNvPr id="13" name="Text 11"/>
          <p:cNvSpPr/>
          <p:nvPr/>
        </p:nvSpPr>
        <p:spPr>
          <a:xfrm>
            <a:off x="812800" y="6238280"/>
            <a:ext cx="91567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487"/>
                </a:solidFill>
                <a:latin typeface="Schibsted Grotesk" pitchFamily="34" charset="0"/>
                <a:ea typeface="Schibsted Grotesk" pitchFamily="34" charset="-122"/>
                <a:cs typeface="Schibsted Grotesk" pitchFamily="34" charset="-120"/>
              </a:rPr>
              <a:t>Pricing: Anthropic and Vercel pricing pages, checked 14 Oct 2026. Details in the cost estimation sheet</a:t>
            </a:r>
            <a:endParaRPr lang="en-US" sz="1200" dirty="0"/>
          </a:p>
        </p:txBody>
      </p:sp>
      <p:sp>
        <p:nvSpPr>
          <p:cNvPr id="14" name="Text 12"/>
          <p:cNvSpPr/>
          <p:nvPr/>
        </p:nvSpPr>
        <p:spPr>
          <a:xfrm>
            <a:off x="10693400" y="6238280"/>
            <a:ext cx="685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487"/>
                </a:solidFill>
                <a:latin typeface="Schibsted Grotesk" pitchFamily="34" charset="0"/>
                <a:ea typeface="Schibsted Grotesk" pitchFamily="34" charset="-122"/>
                <a:cs typeface="Schibsted Grotesk" pitchFamily="34" charset="-120"/>
              </a:rPr>
              <a:t>18</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72033"/>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F4F5F8"/>
                </a:solidFill>
                <a:latin typeface="Schibsted Grotesk" pitchFamily="34" charset="0"/>
                <a:ea typeface="Schibsted Grotesk" pitchFamily="34" charset="-122"/>
                <a:cs typeface="Schibsted Grotesk" pitchFamily="34" charset="-120"/>
              </a:rPr>
              <a:t>Rollout: earn trust one gate at a time</a:t>
            </a:r>
            <a:endParaRPr lang="en-US" sz="3200" dirty="0"/>
          </a:p>
        </p:txBody>
      </p:sp>
      <p:sp>
        <p:nvSpPr>
          <p:cNvPr id="3" name="Shape 1"/>
          <p:cNvSpPr/>
          <p:nvPr/>
        </p:nvSpPr>
        <p:spPr>
          <a:xfrm>
            <a:off x="812800" y="1564618"/>
            <a:ext cx="2527300" cy="1417175"/>
          </a:xfrm>
          <a:prstGeom prst="roundRect">
            <a:avLst>
              <a:gd name="adj" fmla="val 7169"/>
            </a:avLst>
          </a:prstGeom>
          <a:solidFill>
            <a:srgbClr val="22304A"/>
          </a:solidFill>
          <a:ln/>
        </p:spPr>
      </p:sp>
      <p:sp>
        <p:nvSpPr>
          <p:cNvPr id="4" name="Text 2"/>
          <p:cNvSpPr/>
          <p:nvPr/>
        </p:nvSpPr>
        <p:spPr>
          <a:xfrm>
            <a:off x="1016000" y="1767818"/>
            <a:ext cx="2184527"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8AA2F0"/>
                </a:solidFill>
                <a:latin typeface="Schibsted Grotesk" pitchFamily="34" charset="0"/>
                <a:ea typeface="Schibsted Grotesk" pitchFamily="34" charset="-122"/>
                <a:cs typeface="Schibsted Grotesk" pitchFamily="34" charset="-120"/>
              </a:rPr>
              <a:t>By 28 Oct</a:t>
            </a:r>
            <a:endParaRPr lang="en-US" sz="1200" dirty="0"/>
          </a:p>
        </p:txBody>
      </p:sp>
      <p:sp>
        <p:nvSpPr>
          <p:cNvPr id="5" name="Text 3"/>
          <p:cNvSpPr/>
          <p:nvPr/>
        </p:nvSpPr>
        <p:spPr>
          <a:xfrm>
            <a:off x="1016000" y="2044638"/>
            <a:ext cx="2184527"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4F5F8"/>
                </a:solidFill>
                <a:latin typeface="Schibsted Grotesk" pitchFamily="34" charset="0"/>
                <a:ea typeface="Schibsted Grotesk" pitchFamily="34" charset="-122"/>
                <a:cs typeface="Schibsted Grotesk" pitchFamily="34" charset="-120"/>
              </a:rPr>
              <a:t>Live eval</a:t>
            </a:r>
            <a:endParaRPr lang="en-US" sz="1600" dirty="0"/>
          </a:p>
        </p:txBody>
      </p:sp>
      <p:sp>
        <p:nvSpPr>
          <p:cNvPr id="6" name="Text 4"/>
          <p:cNvSpPr/>
          <p:nvPr/>
        </p:nvSpPr>
        <p:spPr>
          <a:xfrm>
            <a:off x="1016000" y="2351956"/>
            <a:ext cx="2184527"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8C2D6"/>
                </a:solidFill>
                <a:latin typeface="Schibsted Grotesk" pitchFamily="34" charset="0"/>
                <a:ea typeface="Schibsted Grotesk" pitchFamily="34" charset="-122"/>
                <a:cs typeface="Schibsted Grotesk" pitchFamily="34" charset="-120"/>
              </a:rPr>
              <a:t>Dataset + 50 real messages. Gate: recall 90%+</a:t>
            </a:r>
            <a:endParaRPr lang="en-US" sz="1200" dirty="0"/>
          </a:p>
        </p:txBody>
      </p:sp>
      <p:sp>
        <p:nvSpPr>
          <p:cNvPr id="7" name="Shape 5"/>
          <p:cNvSpPr/>
          <p:nvPr/>
        </p:nvSpPr>
        <p:spPr>
          <a:xfrm>
            <a:off x="3492500" y="1564618"/>
            <a:ext cx="2527300" cy="1417175"/>
          </a:xfrm>
          <a:prstGeom prst="roundRect">
            <a:avLst>
              <a:gd name="adj" fmla="val 7169"/>
            </a:avLst>
          </a:prstGeom>
          <a:solidFill>
            <a:srgbClr val="22304A"/>
          </a:solidFill>
          <a:ln/>
        </p:spPr>
      </p:sp>
      <p:sp>
        <p:nvSpPr>
          <p:cNvPr id="8" name="Text 6"/>
          <p:cNvSpPr/>
          <p:nvPr/>
        </p:nvSpPr>
        <p:spPr>
          <a:xfrm>
            <a:off x="3695700" y="1767818"/>
            <a:ext cx="2184527"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8AA2F0"/>
                </a:solidFill>
                <a:latin typeface="Schibsted Grotesk" pitchFamily="34" charset="0"/>
                <a:ea typeface="Schibsted Grotesk" pitchFamily="34" charset="-122"/>
                <a:cs typeface="Schibsted Grotesk" pitchFamily="34" charset="-120"/>
              </a:rPr>
              <a:t>16-27 Nov</a:t>
            </a:r>
            <a:endParaRPr lang="en-US" sz="1200" dirty="0"/>
          </a:p>
        </p:txBody>
      </p:sp>
      <p:sp>
        <p:nvSpPr>
          <p:cNvPr id="9" name="Text 7"/>
          <p:cNvSpPr/>
          <p:nvPr/>
        </p:nvSpPr>
        <p:spPr>
          <a:xfrm>
            <a:off x="3695700" y="2044638"/>
            <a:ext cx="2184527"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4F5F8"/>
                </a:solidFill>
                <a:latin typeface="Schibsted Grotesk" pitchFamily="34" charset="0"/>
                <a:ea typeface="Schibsted Grotesk" pitchFamily="34" charset="-122"/>
                <a:cs typeface="Schibsted Grotesk" pitchFamily="34" charset="-120"/>
              </a:rPr>
              <a:t>Alpha: CEO</a:t>
            </a:r>
            <a:endParaRPr lang="en-US" sz="1600" dirty="0"/>
          </a:p>
        </p:txBody>
      </p:sp>
      <p:sp>
        <p:nvSpPr>
          <p:cNvPr id="10" name="Text 8"/>
          <p:cNvSpPr/>
          <p:nvPr/>
        </p:nvSpPr>
        <p:spPr>
          <a:xfrm>
            <a:off x="3695700" y="2351956"/>
            <a:ext cx="2184527"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8C2D6"/>
                </a:solidFill>
                <a:latin typeface="Schibsted Grotesk" pitchFamily="34" charset="0"/>
                <a:ea typeface="Schibsted Grotesk" pitchFamily="34" charset="-122"/>
                <a:cs typeface="Schibsted Grotesk" pitchFamily="34" charset="-120"/>
              </a:rPr>
              <a:t>Gate: 8 of 10 daily top items right</a:t>
            </a:r>
            <a:endParaRPr lang="en-US" sz="1200" dirty="0"/>
          </a:p>
        </p:txBody>
      </p:sp>
      <p:sp>
        <p:nvSpPr>
          <p:cNvPr id="11" name="Shape 9"/>
          <p:cNvSpPr/>
          <p:nvPr/>
        </p:nvSpPr>
        <p:spPr>
          <a:xfrm>
            <a:off x="6172200" y="1564618"/>
            <a:ext cx="2527300" cy="1417175"/>
          </a:xfrm>
          <a:prstGeom prst="roundRect">
            <a:avLst>
              <a:gd name="adj" fmla="val 7169"/>
            </a:avLst>
          </a:prstGeom>
          <a:solidFill>
            <a:srgbClr val="22304A"/>
          </a:solidFill>
          <a:ln/>
        </p:spPr>
      </p:sp>
      <p:sp>
        <p:nvSpPr>
          <p:cNvPr id="12" name="Text 10"/>
          <p:cNvSpPr/>
          <p:nvPr/>
        </p:nvSpPr>
        <p:spPr>
          <a:xfrm>
            <a:off x="6375400" y="1767818"/>
            <a:ext cx="2184527"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8AA2F0"/>
                </a:solidFill>
                <a:latin typeface="Schibsted Grotesk" pitchFamily="34" charset="0"/>
                <a:ea typeface="Schibsted Grotesk" pitchFamily="34" charset="-122"/>
                <a:cs typeface="Schibsted Grotesk" pitchFamily="34" charset="-120"/>
              </a:rPr>
              <a:t>December</a:t>
            </a:r>
            <a:endParaRPr lang="en-US" sz="1200" dirty="0"/>
          </a:p>
        </p:txBody>
      </p:sp>
      <p:sp>
        <p:nvSpPr>
          <p:cNvPr id="13" name="Text 11"/>
          <p:cNvSpPr/>
          <p:nvPr/>
        </p:nvSpPr>
        <p:spPr>
          <a:xfrm>
            <a:off x="6375400" y="2044638"/>
            <a:ext cx="2184527"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4F5F8"/>
                </a:solidFill>
                <a:latin typeface="Schibsted Grotesk" pitchFamily="34" charset="0"/>
                <a:ea typeface="Schibsted Grotesk" pitchFamily="34" charset="-122"/>
                <a:cs typeface="Schibsted Grotesk" pitchFamily="34" charset="-120"/>
              </a:rPr>
              <a:t>Beta: 4 sellers</a:t>
            </a:r>
            <a:endParaRPr lang="en-US" sz="1600" dirty="0"/>
          </a:p>
        </p:txBody>
      </p:sp>
      <p:sp>
        <p:nvSpPr>
          <p:cNvPr id="14" name="Text 12"/>
          <p:cNvSpPr/>
          <p:nvPr/>
        </p:nvSpPr>
        <p:spPr>
          <a:xfrm>
            <a:off x="6375400" y="2351956"/>
            <a:ext cx="2184527"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8C2D6"/>
                </a:solidFill>
                <a:latin typeface="Schibsted Grotesk" pitchFamily="34" charset="0"/>
                <a:ea typeface="Schibsted Grotesk" pitchFamily="34" charset="-122"/>
                <a:cs typeface="Schibsted Grotesk" pitchFamily="34" charset="-120"/>
              </a:rPr>
              <a:t>Gate: North Star 70%+, zero incidents</a:t>
            </a:r>
            <a:endParaRPr lang="en-US" sz="1200" dirty="0"/>
          </a:p>
        </p:txBody>
      </p:sp>
      <p:sp>
        <p:nvSpPr>
          <p:cNvPr id="15" name="Shape 13"/>
          <p:cNvSpPr/>
          <p:nvPr/>
        </p:nvSpPr>
        <p:spPr>
          <a:xfrm>
            <a:off x="8851900" y="1564618"/>
            <a:ext cx="2527300" cy="1417175"/>
          </a:xfrm>
          <a:prstGeom prst="roundRect">
            <a:avLst>
              <a:gd name="adj" fmla="val 7169"/>
            </a:avLst>
          </a:prstGeom>
          <a:solidFill>
            <a:srgbClr val="22304A"/>
          </a:solidFill>
          <a:ln/>
        </p:spPr>
      </p:sp>
      <p:sp>
        <p:nvSpPr>
          <p:cNvPr id="16" name="Text 14"/>
          <p:cNvSpPr/>
          <p:nvPr/>
        </p:nvSpPr>
        <p:spPr>
          <a:xfrm>
            <a:off x="9055100" y="1767818"/>
            <a:ext cx="2184527"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8AA2F0"/>
                </a:solidFill>
                <a:latin typeface="Schibsted Grotesk" pitchFamily="34" charset="0"/>
                <a:ea typeface="Schibsted Grotesk" pitchFamily="34" charset="-122"/>
                <a:cs typeface="Schibsted Grotesk" pitchFamily="34" charset="-120"/>
              </a:rPr>
              <a:t>Q1 2027</a:t>
            </a:r>
            <a:endParaRPr lang="en-US" sz="1200" dirty="0"/>
          </a:p>
        </p:txBody>
      </p:sp>
      <p:sp>
        <p:nvSpPr>
          <p:cNvPr id="17" name="Text 15"/>
          <p:cNvSpPr/>
          <p:nvPr/>
        </p:nvSpPr>
        <p:spPr>
          <a:xfrm>
            <a:off x="9055100" y="2044638"/>
            <a:ext cx="2184527"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4F5F8"/>
                </a:solidFill>
                <a:latin typeface="Schibsted Grotesk" pitchFamily="34" charset="0"/>
                <a:ea typeface="Schibsted Grotesk" pitchFamily="34" charset="-122"/>
                <a:cs typeface="Schibsted Grotesk" pitchFamily="34" charset="-120"/>
              </a:rPr>
              <a:t>Full release</a:t>
            </a:r>
            <a:endParaRPr lang="en-US" sz="1600" dirty="0"/>
          </a:p>
        </p:txBody>
      </p:sp>
      <p:sp>
        <p:nvSpPr>
          <p:cNvPr id="18" name="Text 16"/>
          <p:cNvSpPr/>
          <p:nvPr/>
        </p:nvSpPr>
        <p:spPr>
          <a:xfrm>
            <a:off x="9055100" y="2351956"/>
            <a:ext cx="2184527"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8C2D6"/>
                </a:solidFill>
                <a:latin typeface="Schibsted Grotesk" pitchFamily="34" charset="0"/>
                <a:ea typeface="Schibsted Grotesk" pitchFamily="34" charset="-122"/>
                <a:cs typeface="Schibsted Grotesk" pitchFamily="34" charset="-120"/>
              </a:rPr>
              <a:t>Kaizen write-back. Gate: 90% for 4 weeks</a:t>
            </a:r>
            <a:endParaRPr lang="en-US" sz="1200" dirty="0"/>
          </a:p>
        </p:txBody>
      </p:sp>
      <p:sp>
        <p:nvSpPr>
          <p:cNvPr id="19" name="Text 17"/>
          <p:cNvSpPr/>
          <p:nvPr/>
        </p:nvSpPr>
        <p:spPr>
          <a:xfrm>
            <a:off x="812800" y="3286596"/>
            <a:ext cx="10883392" cy="309827"/>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F4F5F8"/>
                </a:solidFill>
                <a:latin typeface="Schibsted Grotesk" pitchFamily="34" charset="0"/>
                <a:ea typeface="Schibsted Grotesk" pitchFamily="34" charset="-122"/>
                <a:cs typeface="Schibsted Grotesk" pitchFamily="34" charset="-120"/>
              </a:rPr>
              <a:t>What we need from you</a:t>
            </a:r>
            <a:endParaRPr lang="en-US" sz="1600" dirty="0"/>
          </a:p>
        </p:txBody>
      </p:sp>
      <p:sp>
        <p:nvSpPr>
          <p:cNvPr id="20" name="Text 18"/>
          <p:cNvSpPr/>
          <p:nvPr/>
        </p:nvSpPr>
        <p:spPr>
          <a:xfrm>
            <a:off x="812800" y="3647219"/>
            <a:ext cx="10883392" cy="577850"/>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B8C2D6"/>
                </a:solidFill>
                <a:latin typeface="Schibsted Grotesk" pitchFamily="34" charset="0"/>
                <a:ea typeface="Schibsted Grotesk" pitchFamily="34" charset="-122"/>
                <a:cs typeface="Schibsted Grotesk" pitchFamily="34" charset="-120"/>
              </a:rPr>
              <a:t>An API key, access to 50 real messages for the eval, an hour a week from Karandeep in alpha, and a decision on how iMessage and personal WhatsApp should reach Recall.</a:t>
            </a:r>
            <a:endParaRPr lang="en-US" sz="1500" dirty="0"/>
          </a:p>
        </p:txBody>
      </p:sp>
      <p:sp>
        <p:nvSpPr>
          <p:cNvPr id="21" name="Text 19"/>
          <p:cNvSpPr/>
          <p:nvPr/>
        </p:nvSpPr>
        <p:spPr>
          <a:xfrm>
            <a:off x="10693400" y="6238280"/>
            <a:ext cx="685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8C2D6"/>
                </a:solidFill>
                <a:latin typeface="Schibsted Grotesk" pitchFamily="34" charset="0"/>
                <a:ea typeface="Schibsted Grotesk" pitchFamily="34" charset="-122"/>
                <a:cs typeface="Schibsted Grotesk" pitchFamily="34" charset="-120"/>
              </a:rPr>
              <a:t>19</a:t>
            </a:r>
            <a:endParaRPr lang="en-US" sz="1200" dirty="0"/>
          </a:p>
        </p:txBody>
      </p:sp>
    </p:spTree>
  </p:cSld>
  <p:clrMapOvr>
    <a:masterClrMapping/>
  </p:clrMapOvr>
</p:sld>
</file>

<file path=ppt/theme/theme1.xml><?xml version="1.0" encoding="utf-8"?>
<a:theme xmlns:a="http://schemas.openxmlformats.org/drawingml/2006/main" name="Recall: AtliQ Sales Memory">
  <a:themeElements>
    <a:clrScheme name="Recall: AtliQ Sales Memory">
      <a:dk1>
        <a:srgbClr val="172033"/>
      </a:dk1>
      <a:lt1>
        <a:srgbClr val="F4F5F8"/>
      </a:lt1>
      <a:dk2>
        <a:srgbClr val="4E5564"/>
      </a:dk2>
      <a:lt2>
        <a:srgbClr val="DEE0E4"/>
      </a:lt2>
      <a:accent1>
        <a:srgbClr val="2F4BA8"/>
      </a:accent1>
      <a:accent2>
        <a:srgbClr val="B42318"/>
      </a:accent2>
      <a:accent3>
        <a:srgbClr val="1D6F63"/>
      </a:accent3>
      <a:accent4>
        <a:srgbClr val="8AA2F0"/>
      </a:accent4>
      <a:accent5>
        <a:srgbClr val="33405A"/>
      </a:accent5>
      <a:accent6>
        <a:srgbClr val="6B7487"/>
      </a:accent6>
      <a:hlink>
        <a:srgbClr val="0563C1"/>
      </a:hlink>
      <a:folHlink>
        <a:srgbClr val="954F72"/>
      </a:folHlink>
    </a:clrScheme>
    <a:fontScheme name="Recall: AtliQ Sales Memory">
      <a:majorFont>
        <a:latin typeface="Schibsted Grotesk"/>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Schibsted Grotesk"/>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Recall: AtliQ Sales Memory</dc:title>
  <dc:subject/>
  <dc:creator/>
  <cp:lastModifiedBy/>
  <cp:revision>1</cp:revision>
  <dcterms:created xsi:type="dcterms:W3CDTF">2026-10-14T16:53:37Z</dcterms:created>
  <dcterms:modified xsi:type="dcterms:W3CDTF">2026-10-14T16:53:37Z</dcterms:modified>
</cp:coreProperties>
</file>